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5"/>
  </p:notesMasterIdLst>
  <p:handoutMasterIdLst>
    <p:handoutMasterId r:id="rId26"/>
  </p:handoutMasterIdLst>
  <p:sldIdLst>
    <p:sldId id="256" r:id="rId2"/>
    <p:sldId id="257" r:id="rId3"/>
    <p:sldId id="258" r:id="rId4"/>
    <p:sldId id="271" r:id="rId5"/>
    <p:sldId id="296" r:id="rId6"/>
    <p:sldId id="273" r:id="rId7"/>
    <p:sldId id="264" r:id="rId8"/>
    <p:sldId id="295" r:id="rId9"/>
    <p:sldId id="272" r:id="rId10"/>
    <p:sldId id="277" r:id="rId11"/>
    <p:sldId id="262" r:id="rId12"/>
    <p:sldId id="280" r:id="rId13"/>
    <p:sldId id="263" r:id="rId14"/>
    <p:sldId id="265" r:id="rId15"/>
    <p:sldId id="284" r:id="rId16"/>
    <p:sldId id="290" r:id="rId17"/>
    <p:sldId id="293" r:id="rId18"/>
    <p:sldId id="294" r:id="rId19"/>
    <p:sldId id="278" r:id="rId20"/>
    <p:sldId id="286" r:id="rId21"/>
    <p:sldId id="288" r:id="rId22"/>
    <p:sldId id="287" r:id="rId23"/>
    <p:sldId id="289"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80" d="100"/>
          <a:sy n="80" d="100"/>
        </p:scale>
        <p:origin x="429" y="12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48511E-8FEE-4FE7-855C-A65E632CD8F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3E277E9-425B-42D5-9C1F-41385464E4CC}">
      <dgm:prSet custT="1"/>
      <dgm:spPr/>
      <dgm:t>
        <a:bodyPr/>
        <a:lstStyle/>
        <a:p>
          <a:pPr>
            <a:lnSpc>
              <a:spcPct val="100000"/>
            </a:lnSpc>
          </a:pPr>
          <a:r>
            <a:rPr lang="en-US" sz="1800" dirty="0"/>
            <a:t>Key Findings:</a:t>
          </a:r>
          <a:br>
            <a:rPr lang="en-US" sz="1800" dirty="0"/>
          </a:br>
          <a:r>
            <a:rPr lang="en-US" sz="1800" dirty="0"/>
            <a:t>- 7 cuisines offered; Queens, Uptown, UWS underserved.</a:t>
          </a:r>
          <a:br>
            <a:rPr lang="en-US" sz="1800" dirty="0"/>
          </a:br>
          <a:r>
            <a:rPr lang="en-US" sz="1800" dirty="0"/>
            <a:t>- Order growth </a:t>
          </a:r>
          <a:r>
            <a:rPr lang="en-GB" sz="1800" dirty="0"/>
            <a:t>+207%, </a:t>
          </a:r>
          <a:r>
            <a:rPr lang="en-US" sz="1800" dirty="0"/>
            <a:t>August dip noted.</a:t>
          </a:r>
          <a:br>
            <a:rPr lang="en-US" sz="1800" dirty="0"/>
          </a:br>
          <a:r>
            <a:rPr lang="en-US" sz="1800" dirty="0"/>
            <a:t>- 69.64% repeat customers; retention opportunity.</a:t>
          </a:r>
          <a:br>
            <a:rPr lang="en-US" sz="1800" dirty="0"/>
          </a:br>
          <a:r>
            <a:rPr lang="en-US" sz="1800" dirty="0"/>
            <a:t>- Peak orders on weekends.</a:t>
          </a:r>
        </a:p>
      </dgm:t>
    </dgm:pt>
    <dgm:pt modelId="{34503989-ED57-477D-8E64-779E27820840}" type="parTrans" cxnId="{406D0EF5-EFBD-42BB-BA4F-C64FCBB5ED1B}">
      <dgm:prSet/>
      <dgm:spPr/>
      <dgm:t>
        <a:bodyPr/>
        <a:lstStyle/>
        <a:p>
          <a:endParaRPr lang="en-US"/>
        </a:p>
      </dgm:t>
    </dgm:pt>
    <dgm:pt modelId="{332F6233-8220-4538-B4BB-F51CD1F885E8}" type="sibTrans" cxnId="{406D0EF5-EFBD-42BB-BA4F-C64FCBB5ED1B}">
      <dgm:prSet/>
      <dgm:spPr/>
      <dgm:t>
        <a:bodyPr/>
        <a:lstStyle/>
        <a:p>
          <a:pPr>
            <a:lnSpc>
              <a:spcPct val="100000"/>
            </a:lnSpc>
          </a:pPr>
          <a:endParaRPr lang="en-US"/>
        </a:p>
      </dgm:t>
    </dgm:pt>
    <dgm:pt modelId="{9748C9C6-A199-4ABE-90C8-19736BD45A0F}">
      <dgm:prSet custT="1"/>
      <dgm:spPr/>
      <dgm:t>
        <a:bodyPr/>
        <a:lstStyle/>
        <a:p>
          <a:pPr>
            <a:lnSpc>
              <a:spcPct val="100000"/>
            </a:lnSpc>
          </a:pPr>
          <a:r>
            <a:rPr lang="en-US" sz="1800" dirty="0"/>
            <a:t>Opportunities:</a:t>
          </a:r>
          <a:br>
            <a:rPr lang="en-US" sz="1800" dirty="0"/>
          </a:br>
          <a:r>
            <a:rPr lang="en-US" sz="1800" dirty="0"/>
            <a:t>- Expand partnerships.</a:t>
          </a:r>
          <a:br>
            <a:rPr lang="en-US" sz="1800" dirty="0"/>
          </a:br>
          <a:r>
            <a:rPr lang="en-US" sz="1800" dirty="0"/>
            <a:t>- Boost weekday orders.</a:t>
          </a:r>
          <a:br>
            <a:rPr lang="en-US" sz="1800" dirty="0"/>
          </a:br>
          <a:endParaRPr lang="en-US" sz="1800" dirty="0"/>
        </a:p>
      </dgm:t>
    </dgm:pt>
    <dgm:pt modelId="{2923A88D-D286-424D-B6D1-0204C8066EEC}" type="parTrans" cxnId="{F2AB42F2-2F34-487E-87D1-A58563F88E90}">
      <dgm:prSet/>
      <dgm:spPr/>
      <dgm:t>
        <a:bodyPr/>
        <a:lstStyle/>
        <a:p>
          <a:endParaRPr lang="en-US"/>
        </a:p>
      </dgm:t>
    </dgm:pt>
    <dgm:pt modelId="{4D64696D-2AB8-47AD-8725-75268A41C8BC}" type="sibTrans" cxnId="{F2AB42F2-2F34-487E-87D1-A58563F88E90}">
      <dgm:prSet/>
      <dgm:spPr/>
      <dgm:t>
        <a:bodyPr/>
        <a:lstStyle/>
        <a:p>
          <a:endParaRPr lang="en-US"/>
        </a:p>
      </dgm:t>
    </dgm:pt>
    <dgm:pt modelId="{A9C834D1-FDBA-4559-8AA0-947378A00C1E}" type="pres">
      <dgm:prSet presAssocID="{1F48511E-8FEE-4FE7-855C-A65E632CD8F0}" presName="root" presStyleCnt="0">
        <dgm:presLayoutVars>
          <dgm:dir/>
          <dgm:resizeHandles val="exact"/>
        </dgm:presLayoutVars>
      </dgm:prSet>
      <dgm:spPr/>
    </dgm:pt>
    <dgm:pt modelId="{E733A088-38FD-4C4E-866B-BF305EB6652C}" type="pres">
      <dgm:prSet presAssocID="{E3E277E9-425B-42D5-9C1F-41385464E4CC}" presName="compNode" presStyleCnt="0"/>
      <dgm:spPr/>
    </dgm:pt>
    <dgm:pt modelId="{3F4F7062-90E5-4F7B-8C0F-9C5E1B170B58}" type="pres">
      <dgm:prSet presAssocID="{E3E277E9-425B-42D5-9C1F-41385464E4CC}" presName="bgRect" presStyleLbl="bgShp" presStyleIdx="0" presStyleCnt="2"/>
      <dgm:spPr/>
    </dgm:pt>
    <dgm:pt modelId="{BC3C5FBF-5D50-4524-B895-5DC48E29572A}" type="pres">
      <dgm:prSet presAssocID="{E3E277E9-425B-42D5-9C1F-41385464E4C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stle scene"/>
        </a:ext>
      </dgm:extLst>
    </dgm:pt>
    <dgm:pt modelId="{F77109A6-54C7-4995-AFBC-7B72C8D59A26}" type="pres">
      <dgm:prSet presAssocID="{E3E277E9-425B-42D5-9C1F-41385464E4CC}" presName="spaceRect" presStyleCnt="0"/>
      <dgm:spPr/>
    </dgm:pt>
    <dgm:pt modelId="{D86C1F1B-7423-497E-8A1F-9B82E298AF82}" type="pres">
      <dgm:prSet presAssocID="{E3E277E9-425B-42D5-9C1F-41385464E4CC}" presName="parTx" presStyleLbl="revTx" presStyleIdx="0" presStyleCnt="2">
        <dgm:presLayoutVars>
          <dgm:chMax val="0"/>
          <dgm:chPref val="0"/>
        </dgm:presLayoutVars>
      </dgm:prSet>
      <dgm:spPr/>
    </dgm:pt>
    <dgm:pt modelId="{A2746214-D15D-40A1-B836-98DF297F3EC9}" type="pres">
      <dgm:prSet presAssocID="{332F6233-8220-4538-B4BB-F51CD1F885E8}" presName="sibTrans" presStyleCnt="0"/>
      <dgm:spPr/>
    </dgm:pt>
    <dgm:pt modelId="{E9903843-468C-40AE-83F2-227A89A93A60}" type="pres">
      <dgm:prSet presAssocID="{9748C9C6-A199-4ABE-90C8-19736BD45A0F}" presName="compNode" presStyleCnt="0"/>
      <dgm:spPr/>
    </dgm:pt>
    <dgm:pt modelId="{325EB75E-BADE-45DE-9CF5-FAF627140093}" type="pres">
      <dgm:prSet presAssocID="{9748C9C6-A199-4ABE-90C8-19736BD45A0F}" presName="bgRect" presStyleLbl="bgShp" presStyleIdx="1" presStyleCnt="2"/>
      <dgm:spPr/>
    </dgm:pt>
    <dgm:pt modelId="{9F8AE732-FF80-4E8D-9B3D-C83DAB66F056}" type="pres">
      <dgm:prSet presAssocID="{9748C9C6-A199-4ABE-90C8-19736BD45A0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siness Growth"/>
        </a:ext>
      </dgm:extLst>
    </dgm:pt>
    <dgm:pt modelId="{8A692C9A-ECA1-4EA8-A94A-B04525164D99}" type="pres">
      <dgm:prSet presAssocID="{9748C9C6-A199-4ABE-90C8-19736BD45A0F}" presName="spaceRect" presStyleCnt="0"/>
      <dgm:spPr/>
    </dgm:pt>
    <dgm:pt modelId="{4B4F4453-7377-468D-84D2-70E302D98B2E}" type="pres">
      <dgm:prSet presAssocID="{9748C9C6-A199-4ABE-90C8-19736BD45A0F}" presName="parTx" presStyleLbl="revTx" presStyleIdx="1" presStyleCnt="2">
        <dgm:presLayoutVars>
          <dgm:chMax val="0"/>
          <dgm:chPref val="0"/>
        </dgm:presLayoutVars>
      </dgm:prSet>
      <dgm:spPr/>
    </dgm:pt>
  </dgm:ptLst>
  <dgm:cxnLst>
    <dgm:cxn modelId="{FC2C2C71-CF23-4038-A55A-8B70B935BEBC}" type="presOf" srcId="{E3E277E9-425B-42D5-9C1F-41385464E4CC}" destId="{D86C1F1B-7423-497E-8A1F-9B82E298AF82}" srcOrd="0" destOrd="0" presId="urn:microsoft.com/office/officeart/2018/2/layout/IconVerticalSolidList"/>
    <dgm:cxn modelId="{263AA197-92ED-4410-86E4-07770A328E7F}" type="presOf" srcId="{9748C9C6-A199-4ABE-90C8-19736BD45A0F}" destId="{4B4F4453-7377-468D-84D2-70E302D98B2E}" srcOrd="0" destOrd="0" presId="urn:microsoft.com/office/officeart/2018/2/layout/IconVerticalSolidList"/>
    <dgm:cxn modelId="{24AB28B0-B755-4864-9FAD-95CB14C57B59}" type="presOf" srcId="{1F48511E-8FEE-4FE7-855C-A65E632CD8F0}" destId="{A9C834D1-FDBA-4559-8AA0-947378A00C1E}" srcOrd="0" destOrd="0" presId="urn:microsoft.com/office/officeart/2018/2/layout/IconVerticalSolidList"/>
    <dgm:cxn modelId="{F2AB42F2-2F34-487E-87D1-A58563F88E90}" srcId="{1F48511E-8FEE-4FE7-855C-A65E632CD8F0}" destId="{9748C9C6-A199-4ABE-90C8-19736BD45A0F}" srcOrd="1" destOrd="0" parTransId="{2923A88D-D286-424D-B6D1-0204C8066EEC}" sibTransId="{4D64696D-2AB8-47AD-8725-75268A41C8BC}"/>
    <dgm:cxn modelId="{406D0EF5-EFBD-42BB-BA4F-C64FCBB5ED1B}" srcId="{1F48511E-8FEE-4FE7-855C-A65E632CD8F0}" destId="{E3E277E9-425B-42D5-9C1F-41385464E4CC}" srcOrd="0" destOrd="0" parTransId="{34503989-ED57-477D-8E64-779E27820840}" sibTransId="{332F6233-8220-4538-B4BB-F51CD1F885E8}"/>
    <dgm:cxn modelId="{7DC7CDFF-126C-4AE1-A99D-A32D288003C9}" type="presParOf" srcId="{A9C834D1-FDBA-4559-8AA0-947378A00C1E}" destId="{E733A088-38FD-4C4E-866B-BF305EB6652C}" srcOrd="0" destOrd="0" presId="urn:microsoft.com/office/officeart/2018/2/layout/IconVerticalSolidList"/>
    <dgm:cxn modelId="{7109810F-B746-4416-87CC-04B2CEFBC976}" type="presParOf" srcId="{E733A088-38FD-4C4E-866B-BF305EB6652C}" destId="{3F4F7062-90E5-4F7B-8C0F-9C5E1B170B58}" srcOrd="0" destOrd="0" presId="urn:microsoft.com/office/officeart/2018/2/layout/IconVerticalSolidList"/>
    <dgm:cxn modelId="{B88FDF23-D5F3-4DCE-8E7E-BCFC6C9A1804}" type="presParOf" srcId="{E733A088-38FD-4C4E-866B-BF305EB6652C}" destId="{BC3C5FBF-5D50-4524-B895-5DC48E29572A}" srcOrd="1" destOrd="0" presId="urn:microsoft.com/office/officeart/2018/2/layout/IconVerticalSolidList"/>
    <dgm:cxn modelId="{8EEE8CD3-96B6-4005-87FF-234A6BFE9637}" type="presParOf" srcId="{E733A088-38FD-4C4E-866B-BF305EB6652C}" destId="{F77109A6-54C7-4995-AFBC-7B72C8D59A26}" srcOrd="2" destOrd="0" presId="urn:microsoft.com/office/officeart/2018/2/layout/IconVerticalSolidList"/>
    <dgm:cxn modelId="{10DAA6DD-10C4-407B-B46B-48F95E02EBE6}" type="presParOf" srcId="{E733A088-38FD-4C4E-866B-BF305EB6652C}" destId="{D86C1F1B-7423-497E-8A1F-9B82E298AF82}" srcOrd="3" destOrd="0" presId="urn:microsoft.com/office/officeart/2018/2/layout/IconVerticalSolidList"/>
    <dgm:cxn modelId="{74C84BEA-51E1-429D-A259-9E18E1157557}" type="presParOf" srcId="{A9C834D1-FDBA-4559-8AA0-947378A00C1E}" destId="{A2746214-D15D-40A1-B836-98DF297F3EC9}" srcOrd="1" destOrd="0" presId="urn:microsoft.com/office/officeart/2018/2/layout/IconVerticalSolidList"/>
    <dgm:cxn modelId="{82DB9347-BA4C-4D45-8442-3C8BDBE7F7F9}" type="presParOf" srcId="{A9C834D1-FDBA-4559-8AA0-947378A00C1E}" destId="{E9903843-468C-40AE-83F2-227A89A93A60}" srcOrd="2" destOrd="0" presId="urn:microsoft.com/office/officeart/2018/2/layout/IconVerticalSolidList"/>
    <dgm:cxn modelId="{46F6C037-2042-4395-AA08-FF188A73E288}" type="presParOf" srcId="{E9903843-468C-40AE-83F2-227A89A93A60}" destId="{325EB75E-BADE-45DE-9CF5-FAF627140093}" srcOrd="0" destOrd="0" presId="urn:microsoft.com/office/officeart/2018/2/layout/IconVerticalSolidList"/>
    <dgm:cxn modelId="{65089337-E286-4AA9-A8EB-E6E22FBAB693}" type="presParOf" srcId="{E9903843-468C-40AE-83F2-227A89A93A60}" destId="{9F8AE732-FF80-4E8D-9B3D-C83DAB66F056}" srcOrd="1" destOrd="0" presId="urn:microsoft.com/office/officeart/2018/2/layout/IconVerticalSolidList"/>
    <dgm:cxn modelId="{BEFA4E45-992A-4210-B1DA-DDE979747944}" type="presParOf" srcId="{E9903843-468C-40AE-83F2-227A89A93A60}" destId="{8A692C9A-ECA1-4EA8-A94A-B04525164D99}" srcOrd="2" destOrd="0" presId="urn:microsoft.com/office/officeart/2018/2/layout/IconVerticalSolidList"/>
    <dgm:cxn modelId="{DFB71323-DEDF-4885-84A5-BE05352AF37C}" type="presParOf" srcId="{E9903843-468C-40AE-83F2-227A89A93A60}" destId="{4B4F4453-7377-468D-84D2-70E302D98B2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A631239-9293-4F47-8832-AAD9F368822A}" type="doc">
      <dgm:prSet loTypeId="urn:microsoft.com/office/officeart/2005/8/layout/vProcess5" loCatId="process" qsTypeId="urn:microsoft.com/office/officeart/2005/8/quickstyle/simple3" qsCatId="simple" csTypeId="urn:microsoft.com/office/officeart/2005/8/colors/colorful3" csCatId="colorful" phldr="1"/>
      <dgm:spPr/>
      <dgm:t>
        <a:bodyPr/>
        <a:lstStyle/>
        <a:p>
          <a:endParaRPr lang="en-US"/>
        </a:p>
      </dgm:t>
    </dgm:pt>
    <dgm:pt modelId="{120B873C-82FB-4BD8-AB02-4EEE25AC86B2}">
      <dgm:prSet/>
      <dgm:spPr/>
      <dgm:t>
        <a:bodyPr/>
        <a:lstStyle/>
        <a:p>
          <a:r>
            <a:rPr lang="en-GB" dirty="0"/>
            <a:t>The largest segment (74 customers) made purchases within the last </a:t>
          </a:r>
          <a:r>
            <a:rPr lang="en-GB" b="1" dirty="0"/>
            <a:t>0–30 days</a:t>
          </a:r>
          <a:r>
            <a:rPr lang="en-GB" dirty="0"/>
            <a:t>, indicating active behaviour.</a:t>
          </a:r>
          <a:endParaRPr lang="en-US" dirty="0"/>
        </a:p>
      </dgm:t>
    </dgm:pt>
    <dgm:pt modelId="{12EF0DF6-79DC-4974-A79F-2E422C5F4CE6}" type="parTrans" cxnId="{44689480-28B4-4E38-ACE0-8707506D3304}">
      <dgm:prSet/>
      <dgm:spPr/>
      <dgm:t>
        <a:bodyPr/>
        <a:lstStyle/>
        <a:p>
          <a:endParaRPr lang="en-US"/>
        </a:p>
      </dgm:t>
    </dgm:pt>
    <dgm:pt modelId="{305B6AA8-B21C-434A-BE58-884DE00362F9}" type="sibTrans" cxnId="{44689480-28B4-4E38-ACE0-8707506D3304}">
      <dgm:prSet/>
      <dgm:spPr/>
      <dgm:t>
        <a:bodyPr/>
        <a:lstStyle/>
        <a:p>
          <a:endParaRPr lang="en-US"/>
        </a:p>
      </dgm:t>
    </dgm:pt>
    <dgm:pt modelId="{2CDC9B74-B131-4DB8-A22D-259B29C2A6DC}">
      <dgm:prSet/>
      <dgm:spPr/>
      <dgm:t>
        <a:bodyPr/>
        <a:lstStyle/>
        <a:p>
          <a:r>
            <a:rPr lang="en-GB" dirty="0"/>
            <a:t>Purchase counts steadily decline as recency increases from 44 customers in </a:t>
          </a:r>
          <a:r>
            <a:rPr lang="en-GB" b="1" dirty="0"/>
            <a:t>31–60 days</a:t>
          </a:r>
          <a:r>
            <a:rPr lang="en-GB" dirty="0"/>
            <a:t> down to 21 in </a:t>
          </a:r>
          <a:r>
            <a:rPr lang="en-GB" b="1" dirty="0"/>
            <a:t>151–180 days</a:t>
          </a:r>
          <a:r>
            <a:rPr lang="en-GB" dirty="0"/>
            <a:t>.</a:t>
          </a:r>
          <a:endParaRPr lang="en-US" dirty="0"/>
        </a:p>
      </dgm:t>
    </dgm:pt>
    <dgm:pt modelId="{D88C53D1-70FC-43B9-B9A5-8FB68A3385EB}" type="parTrans" cxnId="{5AF2E6BD-C9A5-4261-BF9C-97F4174B3890}">
      <dgm:prSet/>
      <dgm:spPr/>
      <dgm:t>
        <a:bodyPr/>
        <a:lstStyle/>
        <a:p>
          <a:endParaRPr lang="en-US"/>
        </a:p>
      </dgm:t>
    </dgm:pt>
    <dgm:pt modelId="{2BF12778-F18C-429B-AFF2-C6303D685EBC}" type="sibTrans" cxnId="{5AF2E6BD-C9A5-4261-BF9C-97F4174B3890}">
      <dgm:prSet/>
      <dgm:spPr/>
      <dgm:t>
        <a:bodyPr/>
        <a:lstStyle/>
        <a:p>
          <a:endParaRPr lang="en-US"/>
        </a:p>
      </dgm:t>
    </dgm:pt>
    <dgm:pt modelId="{9A6CE83F-5E7A-4D57-94D7-FE9E279553AA}">
      <dgm:prSet/>
      <dgm:spPr/>
      <dgm:t>
        <a:bodyPr/>
        <a:lstStyle/>
        <a:p>
          <a:r>
            <a:rPr lang="en-GB" dirty="0"/>
            <a:t>Engagement drops after 90 days, ~</a:t>
          </a:r>
          <a:r>
            <a:rPr lang="en-GB" b="1" dirty="0"/>
            <a:t>67 customers</a:t>
          </a:r>
          <a:r>
            <a:rPr lang="en-GB" dirty="0"/>
            <a:t> remain in the </a:t>
          </a:r>
          <a:r>
            <a:rPr lang="en-GB" b="1" dirty="0"/>
            <a:t>91–180 days</a:t>
          </a:r>
          <a:r>
            <a:rPr lang="en-GB" dirty="0"/>
            <a:t> range.</a:t>
          </a:r>
          <a:endParaRPr lang="en-US" dirty="0"/>
        </a:p>
      </dgm:t>
    </dgm:pt>
    <dgm:pt modelId="{9506BE40-1F05-46EE-AD20-7AD5DECF52FA}" type="parTrans" cxnId="{2D3CC162-C49F-486C-9FE2-83A1AE7CA441}">
      <dgm:prSet/>
      <dgm:spPr/>
      <dgm:t>
        <a:bodyPr/>
        <a:lstStyle/>
        <a:p>
          <a:endParaRPr lang="en-US"/>
        </a:p>
      </dgm:t>
    </dgm:pt>
    <dgm:pt modelId="{69B3B1BE-66BA-4D2F-925F-2CE74B5F7DB2}" type="sibTrans" cxnId="{2D3CC162-C49F-486C-9FE2-83A1AE7CA441}">
      <dgm:prSet/>
      <dgm:spPr/>
      <dgm:t>
        <a:bodyPr/>
        <a:lstStyle/>
        <a:p>
          <a:endParaRPr lang="en-US"/>
        </a:p>
      </dgm:t>
    </dgm:pt>
    <dgm:pt modelId="{5EA23014-981F-47BB-8EDD-C8AC11B6621B}">
      <dgm:prSet/>
      <dgm:spPr/>
      <dgm:t>
        <a:bodyPr/>
        <a:lstStyle/>
        <a:p>
          <a:pPr>
            <a:buNone/>
          </a:pPr>
          <a:r>
            <a:rPr lang="en-GB" dirty="0"/>
            <a:t>Percentage of customers with </a:t>
          </a:r>
          <a:r>
            <a:rPr lang="en-GB" b="1" dirty="0"/>
            <a:t>recency &gt; 30 days: 66.96%</a:t>
          </a:r>
        </a:p>
        <a:p>
          <a:pPr>
            <a:buNone/>
          </a:pPr>
          <a:r>
            <a:rPr lang="en-GB" dirty="0"/>
            <a:t>Number of inactive customers </a:t>
          </a:r>
          <a:r>
            <a:rPr lang="en-GB" b="1" dirty="0"/>
            <a:t>(&gt; 30 days): 150</a:t>
          </a:r>
        </a:p>
      </dgm:t>
    </dgm:pt>
    <dgm:pt modelId="{AB6CE655-FAF7-4FEC-B491-0572F7CC4029}" type="parTrans" cxnId="{53C47EEC-95F5-49B5-8BA0-5C59E3AB709D}">
      <dgm:prSet/>
      <dgm:spPr/>
      <dgm:t>
        <a:bodyPr/>
        <a:lstStyle/>
        <a:p>
          <a:endParaRPr lang="en-GB"/>
        </a:p>
      </dgm:t>
    </dgm:pt>
    <dgm:pt modelId="{5813E1AB-C59E-4715-BDF4-5555EB1BEECC}" type="sibTrans" cxnId="{53C47EEC-95F5-49B5-8BA0-5C59E3AB709D}">
      <dgm:prSet/>
      <dgm:spPr/>
      <dgm:t>
        <a:bodyPr/>
        <a:lstStyle/>
        <a:p>
          <a:endParaRPr lang="en-GB"/>
        </a:p>
      </dgm:t>
    </dgm:pt>
    <dgm:pt modelId="{7212AE5A-2CAA-400D-B94E-540BBD477D66}" type="pres">
      <dgm:prSet presAssocID="{CA631239-9293-4F47-8832-AAD9F368822A}" presName="outerComposite" presStyleCnt="0">
        <dgm:presLayoutVars>
          <dgm:chMax val="5"/>
          <dgm:dir/>
          <dgm:resizeHandles val="exact"/>
        </dgm:presLayoutVars>
      </dgm:prSet>
      <dgm:spPr/>
    </dgm:pt>
    <dgm:pt modelId="{3DAEAB66-23A5-44D1-A032-AAC073709612}" type="pres">
      <dgm:prSet presAssocID="{CA631239-9293-4F47-8832-AAD9F368822A}" presName="dummyMaxCanvas" presStyleCnt="0">
        <dgm:presLayoutVars/>
      </dgm:prSet>
      <dgm:spPr/>
    </dgm:pt>
    <dgm:pt modelId="{67A96B97-0C6A-45B2-849D-0147A4742B93}" type="pres">
      <dgm:prSet presAssocID="{CA631239-9293-4F47-8832-AAD9F368822A}" presName="FourNodes_1" presStyleLbl="node1" presStyleIdx="0" presStyleCnt="4">
        <dgm:presLayoutVars>
          <dgm:bulletEnabled val="1"/>
        </dgm:presLayoutVars>
      </dgm:prSet>
      <dgm:spPr/>
    </dgm:pt>
    <dgm:pt modelId="{59FD07A7-722A-46F9-8378-15C5B363BE3C}" type="pres">
      <dgm:prSet presAssocID="{CA631239-9293-4F47-8832-AAD9F368822A}" presName="FourNodes_2" presStyleLbl="node1" presStyleIdx="1" presStyleCnt="4" custLinFactNeighborY="-6860">
        <dgm:presLayoutVars>
          <dgm:bulletEnabled val="1"/>
        </dgm:presLayoutVars>
      </dgm:prSet>
      <dgm:spPr/>
    </dgm:pt>
    <dgm:pt modelId="{3A77DBD1-F28D-477F-80E0-D42FADDEA59C}" type="pres">
      <dgm:prSet presAssocID="{CA631239-9293-4F47-8832-AAD9F368822A}" presName="FourNodes_3" presStyleLbl="node1" presStyleIdx="2" presStyleCnt="4" custLinFactNeighborX="-195" custLinFactNeighborY="-14641">
        <dgm:presLayoutVars>
          <dgm:bulletEnabled val="1"/>
        </dgm:presLayoutVars>
      </dgm:prSet>
      <dgm:spPr/>
    </dgm:pt>
    <dgm:pt modelId="{B750C428-04B8-44D9-91F8-6EE046F4799F}" type="pres">
      <dgm:prSet presAssocID="{CA631239-9293-4F47-8832-AAD9F368822A}" presName="FourNodes_4" presStyleLbl="node1" presStyleIdx="3" presStyleCnt="4" custLinFactNeighborX="0" custLinFactNeighborY="-21751">
        <dgm:presLayoutVars>
          <dgm:bulletEnabled val="1"/>
        </dgm:presLayoutVars>
      </dgm:prSet>
      <dgm:spPr/>
    </dgm:pt>
    <dgm:pt modelId="{1DFC91DB-9A9B-4985-9109-6C3916D08DF4}" type="pres">
      <dgm:prSet presAssocID="{CA631239-9293-4F47-8832-AAD9F368822A}" presName="FourConn_1-2" presStyleLbl="fgAccFollowNode1" presStyleIdx="0" presStyleCnt="3">
        <dgm:presLayoutVars>
          <dgm:bulletEnabled val="1"/>
        </dgm:presLayoutVars>
      </dgm:prSet>
      <dgm:spPr/>
    </dgm:pt>
    <dgm:pt modelId="{78E23843-CF53-4172-8418-A103026C0E34}" type="pres">
      <dgm:prSet presAssocID="{CA631239-9293-4F47-8832-AAD9F368822A}" presName="FourConn_2-3" presStyleLbl="fgAccFollowNode1" presStyleIdx="1" presStyleCnt="3">
        <dgm:presLayoutVars>
          <dgm:bulletEnabled val="1"/>
        </dgm:presLayoutVars>
      </dgm:prSet>
      <dgm:spPr/>
    </dgm:pt>
    <dgm:pt modelId="{20E0B161-FEBC-4B20-AD77-2F6A267F9E86}" type="pres">
      <dgm:prSet presAssocID="{CA631239-9293-4F47-8832-AAD9F368822A}" presName="FourConn_3-4" presStyleLbl="fgAccFollowNode1" presStyleIdx="2" presStyleCnt="3">
        <dgm:presLayoutVars>
          <dgm:bulletEnabled val="1"/>
        </dgm:presLayoutVars>
      </dgm:prSet>
      <dgm:spPr/>
    </dgm:pt>
    <dgm:pt modelId="{0ED5D5E3-3D42-4388-8F78-58621D073761}" type="pres">
      <dgm:prSet presAssocID="{CA631239-9293-4F47-8832-AAD9F368822A}" presName="FourNodes_1_text" presStyleLbl="node1" presStyleIdx="3" presStyleCnt="4">
        <dgm:presLayoutVars>
          <dgm:bulletEnabled val="1"/>
        </dgm:presLayoutVars>
      </dgm:prSet>
      <dgm:spPr/>
    </dgm:pt>
    <dgm:pt modelId="{AA588D7D-864F-4D99-96E1-661F65D2851B}" type="pres">
      <dgm:prSet presAssocID="{CA631239-9293-4F47-8832-AAD9F368822A}" presName="FourNodes_2_text" presStyleLbl="node1" presStyleIdx="3" presStyleCnt="4">
        <dgm:presLayoutVars>
          <dgm:bulletEnabled val="1"/>
        </dgm:presLayoutVars>
      </dgm:prSet>
      <dgm:spPr/>
    </dgm:pt>
    <dgm:pt modelId="{BD63C274-771E-4AFA-A18C-8E76E195F520}" type="pres">
      <dgm:prSet presAssocID="{CA631239-9293-4F47-8832-AAD9F368822A}" presName="FourNodes_3_text" presStyleLbl="node1" presStyleIdx="3" presStyleCnt="4">
        <dgm:presLayoutVars>
          <dgm:bulletEnabled val="1"/>
        </dgm:presLayoutVars>
      </dgm:prSet>
      <dgm:spPr/>
    </dgm:pt>
    <dgm:pt modelId="{17DD523D-7A4C-4DD1-9690-50839F45565A}" type="pres">
      <dgm:prSet presAssocID="{CA631239-9293-4F47-8832-AAD9F368822A}" presName="FourNodes_4_text" presStyleLbl="node1" presStyleIdx="3" presStyleCnt="4">
        <dgm:presLayoutVars>
          <dgm:bulletEnabled val="1"/>
        </dgm:presLayoutVars>
      </dgm:prSet>
      <dgm:spPr/>
    </dgm:pt>
  </dgm:ptLst>
  <dgm:cxnLst>
    <dgm:cxn modelId="{0D512A11-C5B7-4FB7-80A6-DD619667B98F}" type="presOf" srcId="{CA631239-9293-4F47-8832-AAD9F368822A}" destId="{7212AE5A-2CAA-400D-B94E-540BBD477D66}" srcOrd="0" destOrd="0" presId="urn:microsoft.com/office/officeart/2005/8/layout/vProcess5"/>
    <dgm:cxn modelId="{5A95831D-B23F-4E64-B27E-2FC39BE43C12}" type="presOf" srcId="{305B6AA8-B21C-434A-BE58-884DE00362F9}" destId="{1DFC91DB-9A9B-4985-9109-6C3916D08DF4}" srcOrd="0" destOrd="0" presId="urn:microsoft.com/office/officeart/2005/8/layout/vProcess5"/>
    <dgm:cxn modelId="{6BFEE661-AA0B-4D4B-9FE1-208231CDEE60}" type="presOf" srcId="{9A6CE83F-5E7A-4D57-94D7-FE9E279553AA}" destId="{3A77DBD1-F28D-477F-80E0-D42FADDEA59C}" srcOrd="0" destOrd="0" presId="urn:microsoft.com/office/officeart/2005/8/layout/vProcess5"/>
    <dgm:cxn modelId="{2D3CC162-C49F-486C-9FE2-83A1AE7CA441}" srcId="{CA631239-9293-4F47-8832-AAD9F368822A}" destId="{9A6CE83F-5E7A-4D57-94D7-FE9E279553AA}" srcOrd="2" destOrd="0" parTransId="{9506BE40-1F05-46EE-AD20-7AD5DECF52FA}" sibTransId="{69B3B1BE-66BA-4D2F-925F-2CE74B5F7DB2}"/>
    <dgm:cxn modelId="{A68CA963-DEE9-4B44-9A8A-4E567AFD47E0}" type="presOf" srcId="{2BF12778-F18C-429B-AFF2-C6303D685EBC}" destId="{78E23843-CF53-4172-8418-A103026C0E34}" srcOrd="0" destOrd="0" presId="urn:microsoft.com/office/officeart/2005/8/layout/vProcess5"/>
    <dgm:cxn modelId="{19A16E48-E411-497F-9339-52EB1DDCF7B4}" type="presOf" srcId="{2CDC9B74-B131-4DB8-A22D-259B29C2A6DC}" destId="{59FD07A7-722A-46F9-8378-15C5B363BE3C}" srcOrd="0" destOrd="0" presId="urn:microsoft.com/office/officeart/2005/8/layout/vProcess5"/>
    <dgm:cxn modelId="{FBC37569-50DC-4CA5-A7FE-EC11BEB74EC5}" type="presOf" srcId="{120B873C-82FB-4BD8-AB02-4EEE25AC86B2}" destId="{0ED5D5E3-3D42-4388-8F78-58621D073761}" srcOrd="1" destOrd="0" presId="urn:microsoft.com/office/officeart/2005/8/layout/vProcess5"/>
    <dgm:cxn modelId="{B6973077-83A3-45B3-8AE5-CA4849FFD556}" type="presOf" srcId="{5EA23014-981F-47BB-8EDD-C8AC11B6621B}" destId="{17DD523D-7A4C-4DD1-9690-50839F45565A}" srcOrd="1" destOrd="0" presId="urn:microsoft.com/office/officeart/2005/8/layout/vProcess5"/>
    <dgm:cxn modelId="{D9CF8379-FDD2-476E-84B8-887AFA539B2B}" type="presOf" srcId="{9A6CE83F-5E7A-4D57-94D7-FE9E279553AA}" destId="{BD63C274-771E-4AFA-A18C-8E76E195F520}" srcOrd="1" destOrd="0" presId="urn:microsoft.com/office/officeart/2005/8/layout/vProcess5"/>
    <dgm:cxn modelId="{44689480-28B4-4E38-ACE0-8707506D3304}" srcId="{CA631239-9293-4F47-8832-AAD9F368822A}" destId="{120B873C-82FB-4BD8-AB02-4EEE25AC86B2}" srcOrd="0" destOrd="0" parTransId="{12EF0DF6-79DC-4974-A79F-2E422C5F4CE6}" sibTransId="{305B6AA8-B21C-434A-BE58-884DE00362F9}"/>
    <dgm:cxn modelId="{1D7471AF-A429-49E7-9686-6F52E295F0E7}" type="presOf" srcId="{69B3B1BE-66BA-4D2F-925F-2CE74B5F7DB2}" destId="{20E0B161-FEBC-4B20-AD77-2F6A267F9E86}" srcOrd="0" destOrd="0" presId="urn:microsoft.com/office/officeart/2005/8/layout/vProcess5"/>
    <dgm:cxn modelId="{42AF7FB2-743C-43F1-9CA9-A130C698C3A1}" type="presOf" srcId="{5EA23014-981F-47BB-8EDD-C8AC11B6621B}" destId="{B750C428-04B8-44D9-91F8-6EE046F4799F}" srcOrd="0" destOrd="0" presId="urn:microsoft.com/office/officeart/2005/8/layout/vProcess5"/>
    <dgm:cxn modelId="{5AF2E6BD-C9A5-4261-BF9C-97F4174B3890}" srcId="{CA631239-9293-4F47-8832-AAD9F368822A}" destId="{2CDC9B74-B131-4DB8-A22D-259B29C2A6DC}" srcOrd="1" destOrd="0" parTransId="{D88C53D1-70FC-43B9-B9A5-8FB68A3385EB}" sibTransId="{2BF12778-F18C-429B-AFF2-C6303D685EBC}"/>
    <dgm:cxn modelId="{68A855D3-1B6A-40E1-B283-86527A0609D1}" type="presOf" srcId="{120B873C-82FB-4BD8-AB02-4EEE25AC86B2}" destId="{67A96B97-0C6A-45B2-849D-0147A4742B93}" srcOrd="0" destOrd="0" presId="urn:microsoft.com/office/officeart/2005/8/layout/vProcess5"/>
    <dgm:cxn modelId="{53C47EEC-95F5-49B5-8BA0-5C59E3AB709D}" srcId="{CA631239-9293-4F47-8832-AAD9F368822A}" destId="{5EA23014-981F-47BB-8EDD-C8AC11B6621B}" srcOrd="3" destOrd="0" parTransId="{AB6CE655-FAF7-4FEC-B491-0572F7CC4029}" sibTransId="{5813E1AB-C59E-4715-BDF4-5555EB1BEECC}"/>
    <dgm:cxn modelId="{C53C89F3-FF7E-480C-BA41-F9C6BFEF804E}" type="presOf" srcId="{2CDC9B74-B131-4DB8-A22D-259B29C2A6DC}" destId="{AA588D7D-864F-4D99-96E1-661F65D2851B}" srcOrd="1" destOrd="0" presId="urn:microsoft.com/office/officeart/2005/8/layout/vProcess5"/>
    <dgm:cxn modelId="{8CE0D78F-C8B7-4009-B5F9-4A678FBEA427}" type="presParOf" srcId="{7212AE5A-2CAA-400D-B94E-540BBD477D66}" destId="{3DAEAB66-23A5-44D1-A032-AAC073709612}" srcOrd="0" destOrd="0" presId="urn:microsoft.com/office/officeart/2005/8/layout/vProcess5"/>
    <dgm:cxn modelId="{3C63782B-3BD8-4FD7-9DE3-44630B13E4CE}" type="presParOf" srcId="{7212AE5A-2CAA-400D-B94E-540BBD477D66}" destId="{67A96B97-0C6A-45B2-849D-0147A4742B93}" srcOrd="1" destOrd="0" presId="urn:microsoft.com/office/officeart/2005/8/layout/vProcess5"/>
    <dgm:cxn modelId="{6EC9FDA3-4BA5-4A7E-B978-A91CB9665C9F}" type="presParOf" srcId="{7212AE5A-2CAA-400D-B94E-540BBD477D66}" destId="{59FD07A7-722A-46F9-8378-15C5B363BE3C}" srcOrd="2" destOrd="0" presId="urn:microsoft.com/office/officeart/2005/8/layout/vProcess5"/>
    <dgm:cxn modelId="{F0C0E765-2858-46F4-8652-D122D63B2FFE}" type="presParOf" srcId="{7212AE5A-2CAA-400D-B94E-540BBD477D66}" destId="{3A77DBD1-F28D-477F-80E0-D42FADDEA59C}" srcOrd="3" destOrd="0" presId="urn:microsoft.com/office/officeart/2005/8/layout/vProcess5"/>
    <dgm:cxn modelId="{74433F21-9ED9-47FB-826A-FB8976A9A4C8}" type="presParOf" srcId="{7212AE5A-2CAA-400D-B94E-540BBD477D66}" destId="{B750C428-04B8-44D9-91F8-6EE046F4799F}" srcOrd="4" destOrd="0" presId="urn:microsoft.com/office/officeart/2005/8/layout/vProcess5"/>
    <dgm:cxn modelId="{4CE433A1-51C4-4DAC-BDEF-2AC8279D8086}" type="presParOf" srcId="{7212AE5A-2CAA-400D-B94E-540BBD477D66}" destId="{1DFC91DB-9A9B-4985-9109-6C3916D08DF4}" srcOrd="5" destOrd="0" presId="urn:microsoft.com/office/officeart/2005/8/layout/vProcess5"/>
    <dgm:cxn modelId="{568ABC0D-FA22-48CA-B88F-E494C77F3685}" type="presParOf" srcId="{7212AE5A-2CAA-400D-B94E-540BBD477D66}" destId="{78E23843-CF53-4172-8418-A103026C0E34}" srcOrd="6" destOrd="0" presId="urn:microsoft.com/office/officeart/2005/8/layout/vProcess5"/>
    <dgm:cxn modelId="{0333B476-3E7E-4D6B-ADCD-33FBF308F379}" type="presParOf" srcId="{7212AE5A-2CAA-400D-B94E-540BBD477D66}" destId="{20E0B161-FEBC-4B20-AD77-2F6A267F9E86}" srcOrd="7" destOrd="0" presId="urn:microsoft.com/office/officeart/2005/8/layout/vProcess5"/>
    <dgm:cxn modelId="{F69DB722-AA38-449F-88A4-872507809EA3}" type="presParOf" srcId="{7212AE5A-2CAA-400D-B94E-540BBD477D66}" destId="{0ED5D5E3-3D42-4388-8F78-58621D073761}" srcOrd="8" destOrd="0" presId="urn:microsoft.com/office/officeart/2005/8/layout/vProcess5"/>
    <dgm:cxn modelId="{EAE4B726-2A41-403A-B726-44CC985CD49A}" type="presParOf" srcId="{7212AE5A-2CAA-400D-B94E-540BBD477D66}" destId="{AA588D7D-864F-4D99-96E1-661F65D2851B}" srcOrd="9" destOrd="0" presId="urn:microsoft.com/office/officeart/2005/8/layout/vProcess5"/>
    <dgm:cxn modelId="{22DDF7BE-9AE4-4BAE-9F31-7B7198EF0A6B}" type="presParOf" srcId="{7212AE5A-2CAA-400D-B94E-540BBD477D66}" destId="{BD63C274-771E-4AFA-A18C-8E76E195F520}" srcOrd="10" destOrd="0" presId="urn:microsoft.com/office/officeart/2005/8/layout/vProcess5"/>
    <dgm:cxn modelId="{CA6DA516-0DF8-4E72-9F51-714B382E6342}" type="presParOf" srcId="{7212AE5A-2CAA-400D-B94E-540BBD477D66}" destId="{17DD523D-7A4C-4DD1-9690-50839F45565A}"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4F7062-90E5-4F7B-8C0F-9C5E1B170B58}">
      <dsp:nvSpPr>
        <dsp:cNvPr id="0" name=""/>
        <dsp:cNvSpPr/>
      </dsp:nvSpPr>
      <dsp:spPr>
        <a:xfrm>
          <a:off x="0" y="217876"/>
          <a:ext cx="7886700" cy="179747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3C5FBF-5D50-4524-B895-5DC48E29572A}">
      <dsp:nvSpPr>
        <dsp:cNvPr id="0" name=""/>
        <dsp:cNvSpPr/>
      </dsp:nvSpPr>
      <dsp:spPr>
        <a:xfrm>
          <a:off x="543737" y="622308"/>
          <a:ext cx="988613" cy="9886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6C1F1B-7423-497E-8A1F-9B82E298AF82}">
      <dsp:nvSpPr>
        <dsp:cNvPr id="0" name=""/>
        <dsp:cNvSpPr/>
      </dsp:nvSpPr>
      <dsp:spPr>
        <a:xfrm>
          <a:off x="2076087" y="217876"/>
          <a:ext cx="5810612" cy="1797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233" tIns="190233" rIns="190233" bIns="190233" numCol="1" spcCol="1270" anchor="ctr" anchorCtr="0">
          <a:noAutofit/>
        </a:bodyPr>
        <a:lstStyle/>
        <a:p>
          <a:pPr marL="0" lvl="0" indent="0" algn="l" defTabSz="800100">
            <a:lnSpc>
              <a:spcPct val="100000"/>
            </a:lnSpc>
            <a:spcBef>
              <a:spcPct val="0"/>
            </a:spcBef>
            <a:spcAft>
              <a:spcPct val="35000"/>
            </a:spcAft>
            <a:buNone/>
          </a:pPr>
          <a:r>
            <a:rPr lang="en-US" sz="1800" kern="1200" dirty="0"/>
            <a:t>Key Findings:</a:t>
          </a:r>
          <a:br>
            <a:rPr lang="en-US" sz="1800" kern="1200" dirty="0"/>
          </a:br>
          <a:r>
            <a:rPr lang="en-US" sz="1800" kern="1200" dirty="0"/>
            <a:t>- 7 cuisines offered; Queens, Uptown, UWS underserved.</a:t>
          </a:r>
          <a:br>
            <a:rPr lang="en-US" sz="1800" kern="1200" dirty="0"/>
          </a:br>
          <a:r>
            <a:rPr lang="en-US" sz="1800" kern="1200" dirty="0"/>
            <a:t>- Order growth </a:t>
          </a:r>
          <a:r>
            <a:rPr lang="en-GB" sz="1800" kern="1200" dirty="0"/>
            <a:t>+207%, </a:t>
          </a:r>
          <a:r>
            <a:rPr lang="en-US" sz="1800" kern="1200" dirty="0"/>
            <a:t>August dip noted.</a:t>
          </a:r>
          <a:br>
            <a:rPr lang="en-US" sz="1800" kern="1200" dirty="0"/>
          </a:br>
          <a:r>
            <a:rPr lang="en-US" sz="1800" kern="1200" dirty="0"/>
            <a:t>- 69.64% repeat customers; retention opportunity.</a:t>
          </a:r>
          <a:br>
            <a:rPr lang="en-US" sz="1800" kern="1200" dirty="0"/>
          </a:br>
          <a:r>
            <a:rPr lang="en-US" sz="1800" kern="1200" dirty="0"/>
            <a:t>- Peak orders on weekends.</a:t>
          </a:r>
        </a:p>
      </dsp:txBody>
      <dsp:txXfrm>
        <a:off x="2076087" y="217876"/>
        <a:ext cx="5810612" cy="1797478"/>
      </dsp:txXfrm>
    </dsp:sp>
    <dsp:sp modelId="{325EB75E-BADE-45DE-9CF5-FAF627140093}">
      <dsp:nvSpPr>
        <dsp:cNvPr id="0" name=""/>
        <dsp:cNvSpPr/>
      </dsp:nvSpPr>
      <dsp:spPr>
        <a:xfrm>
          <a:off x="0" y="2342169"/>
          <a:ext cx="7886700" cy="179747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8AE732-FF80-4E8D-9B3D-C83DAB66F056}">
      <dsp:nvSpPr>
        <dsp:cNvPr id="0" name=""/>
        <dsp:cNvSpPr/>
      </dsp:nvSpPr>
      <dsp:spPr>
        <a:xfrm>
          <a:off x="543737" y="2746601"/>
          <a:ext cx="988613" cy="9886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B4F4453-7377-468D-84D2-70E302D98B2E}">
      <dsp:nvSpPr>
        <dsp:cNvPr id="0" name=""/>
        <dsp:cNvSpPr/>
      </dsp:nvSpPr>
      <dsp:spPr>
        <a:xfrm>
          <a:off x="2076087" y="2342169"/>
          <a:ext cx="5810612" cy="1797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233" tIns="190233" rIns="190233" bIns="190233" numCol="1" spcCol="1270" anchor="ctr" anchorCtr="0">
          <a:noAutofit/>
        </a:bodyPr>
        <a:lstStyle/>
        <a:p>
          <a:pPr marL="0" lvl="0" indent="0" algn="l" defTabSz="800100">
            <a:lnSpc>
              <a:spcPct val="100000"/>
            </a:lnSpc>
            <a:spcBef>
              <a:spcPct val="0"/>
            </a:spcBef>
            <a:spcAft>
              <a:spcPct val="35000"/>
            </a:spcAft>
            <a:buNone/>
          </a:pPr>
          <a:r>
            <a:rPr lang="en-US" sz="1800" kern="1200" dirty="0"/>
            <a:t>Opportunities:</a:t>
          </a:r>
          <a:br>
            <a:rPr lang="en-US" sz="1800" kern="1200" dirty="0"/>
          </a:br>
          <a:r>
            <a:rPr lang="en-US" sz="1800" kern="1200" dirty="0"/>
            <a:t>- Expand partnerships.</a:t>
          </a:r>
          <a:br>
            <a:rPr lang="en-US" sz="1800" kern="1200" dirty="0"/>
          </a:br>
          <a:r>
            <a:rPr lang="en-US" sz="1800" kern="1200" dirty="0"/>
            <a:t>- Boost weekday orders.</a:t>
          </a:r>
          <a:br>
            <a:rPr lang="en-US" sz="1800" kern="1200" dirty="0"/>
          </a:br>
          <a:endParaRPr lang="en-US" sz="1800" kern="1200" dirty="0"/>
        </a:p>
      </dsp:txBody>
      <dsp:txXfrm>
        <a:off x="2076087" y="2342169"/>
        <a:ext cx="5810612" cy="17974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A96B97-0C6A-45B2-849D-0147A4742B93}">
      <dsp:nvSpPr>
        <dsp:cNvPr id="0" name=""/>
        <dsp:cNvSpPr/>
      </dsp:nvSpPr>
      <dsp:spPr>
        <a:xfrm>
          <a:off x="0" y="0"/>
          <a:ext cx="6114403" cy="548698"/>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kern="1200" dirty="0"/>
            <a:t>The largest segment (74 customers) made purchases within the last </a:t>
          </a:r>
          <a:r>
            <a:rPr lang="en-GB" sz="1200" b="1" kern="1200" dirty="0"/>
            <a:t>0–30 days</a:t>
          </a:r>
          <a:r>
            <a:rPr lang="en-GB" sz="1200" kern="1200" dirty="0"/>
            <a:t>, indicating active behaviour.</a:t>
          </a:r>
          <a:endParaRPr lang="en-US" sz="1200" kern="1200" dirty="0"/>
        </a:p>
      </dsp:txBody>
      <dsp:txXfrm>
        <a:off x="16071" y="16071"/>
        <a:ext cx="5475949" cy="516556"/>
      </dsp:txXfrm>
    </dsp:sp>
    <dsp:sp modelId="{59FD07A7-722A-46F9-8378-15C5B363BE3C}">
      <dsp:nvSpPr>
        <dsp:cNvPr id="0" name=""/>
        <dsp:cNvSpPr/>
      </dsp:nvSpPr>
      <dsp:spPr>
        <a:xfrm>
          <a:off x="512081" y="610821"/>
          <a:ext cx="6114403" cy="548698"/>
        </a:xfrm>
        <a:prstGeom prst="roundRect">
          <a:avLst>
            <a:gd name="adj" fmla="val 10000"/>
          </a:avLst>
        </a:prstGeom>
        <a:gradFill rotWithShape="0">
          <a:gsLst>
            <a:gs pos="0">
              <a:schemeClr val="accent3">
                <a:hueOff val="3750088"/>
                <a:satOff val="-5627"/>
                <a:lumOff val="-915"/>
                <a:alphaOff val="0"/>
                <a:tint val="50000"/>
                <a:satMod val="300000"/>
              </a:schemeClr>
            </a:gs>
            <a:gs pos="35000">
              <a:schemeClr val="accent3">
                <a:hueOff val="3750088"/>
                <a:satOff val="-5627"/>
                <a:lumOff val="-915"/>
                <a:alphaOff val="0"/>
                <a:tint val="37000"/>
                <a:satMod val="300000"/>
              </a:schemeClr>
            </a:gs>
            <a:gs pos="100000">
              <a:schemeClr val="accent3">
                <a:hueOff val="3750088"/>
                <a:satOff val="-5627"/>
                <a:lumOff val="-91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kern="1200" dirty="0"/>
            <a:t>Purchase counts steadily decline as recency increases from 44 customers in </a:t>
          </a:r>
          <a:r>
            <a:rPr lang="en-GB" sz="1200" b="1" kern="1200" dirty="0"/>
            <a:t>31–60 days</a:t>
          </a:r>
          <a:r>
            <a:rPr lang="en-GB" sz="1200" kern="1200" dirty="0"/>
            <a:t> down to 21 in </a:t>
          </a:r>
          <a:r>
            <a:rPr lang="en-GB" sz="1200" b="1" kern="1200" dirty="0"/>
            <a:t>151–180 days</a:t>
          </a:r>
          <a:r>
            <a:rPr lang="en-GB" sz="1200" kern="1200" dirty="0"/>
            <a:t>.</a:t>
          </a:r>
          <a:endParaRPr lang="en-US" sz="1200" kern="1200" dirty="0"/>
        </a:p>
      </dsp:txBody>
      <dsp:txXfrm>
        <a:off x="528152" y="626892"/>
        <a:ext cx="5213525" cy="516556"/>
      </dsp:txXfrm>
    </dsp:sp>
    <dsp:sp modelId="{3A77DBD1-F28D-477F-80E0-D42FADDEA59C}">
      <dsp:nvSpPr>
        <dsp:cNvPr id="0" name=""/>
        <dsp:cNvSpPr/>
      </dsp:nvSpPr>
      <dsp:spPr>
        <a:xfrm>
          <a:off x="1004596" y="1216589"/>
          <a:ext cx="6114403" cy="548698"/>
        </a:xfrm>
        <a:prstGeom prst="roundRect">
          <a:avLst>
            <a:gd name="adj" fmla="val 10000"/>
          </a:avLst>
        </a:prstGeom>
        <a:gradFill rotWithShape="0">
          <a:gsLst>
            <a:gs pos="0">
              <a:schemeClr val="accent3">
                <a:hueOff val="7500176"/>
                <a:satOff val="-11253"/>
                <a:lumOff val="-1830"/>
                <a:alphaOff val="0"/>
                <a:tint val="50000"/>
                <a:satMod val="300000"/>
              </a:schemeClr>
            </a:gs>
            <a:gs pos="35000">
              <a:schemeClr val="accent3">
                <a:hueOff val="7500176"/>
                <a:satOff val="-11253"/>
                <a:lumOff val="-1830"/>
                <a:alphaOff val="0"/>
                <a:tint val="37000"/>
                <a:satMod val="300000"/>
              </a:schemeClr>
            </a:gs>
            <a:gs pos="100000">
              <a:schemeClr val="accent3">
                <a:hueOff val="7500176"/>
                <a:satOff val="-11253"/>
                <a:lumOff val="-183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kern="1200" dirty="0"/>
            <a:t>Engagement drops after 90 days, ~</a:t>
          </a:r>
          <a:r>
            <a:rPr lang="en-GB" sz="1200" b="1" kern="1200" dirty="0"/>
            <a:t>67 customers</a:t>
          </a:r>
          <a:r>
            <a:rPr lang="en-GB" sz="1200" kern="1200" dirty="0"/>
            <a:t> remain in the </a:t>
          </a:r>
          <a:r>
            <a:rPr lang="en-GB" sz="1200" b="1" kern="1200" dirty="0"/>
            <a:t>91–180 days</a:t>
          </a:r>
          <a:r>
            <a:rPr lang="en-GB" sz="1200" kern="1200" dirty="0"/>
            <a:t> range.</a:t>
          </a:r>
          <a:endParaRPr lang="en-US" sz="1200" kern="1200" dirty="0"/>
        </a:p>
      </dsp:txBody>
      <dsp:txXfrm>
        <a:off x="1020667" y="1232660"/>
        <a:ext cx="5221168" cy="516556"/>
      </dsp:txXfrm>
    </dsp:sp>
    <dsp:sp modelId="{B750C428-04B8-44D9-91F8-6EE046F4799F}">
      <dsp:nvSpPr>
        <dsp:cNvPr id="0" name=""/>
        <dsp:cNvSpPr/>
      </dsp:nvSpPr>
      <dsp:spPr>
        <a:xfrm>
          <a:off x="1528600" y="1826038"/>
          <a:ext cx="6114403" cy="548698"/>
        </a:xfrm>
        <a:prstGeom prst="roundRect">
          <a:avLst>
            <a:gd name="adj" fmla="val 10000"/>
          </a:avLst>
        </a:prstGeom>
        <a:gradFill rotWithShape="0">
          <a:gsLst>
            <a:gs pos="0">
              <a:schemeClr val="accent3">
                <a:hueOff val="11250264"/>
                <a:satOff val="-16880"/>
                <a:lumOff val="-2745"/>
                <a:alphaOff val="0"/>
                <a:tint val="50000"/>
                <a:satMod val="300000"/>
              </a:schemeClr>
            </a:gs>
            <a:gs pos="35000">
              <a:schemeClr val="accent3">
                <a:hueOff val="11250264"/>
                <a:satOff val="-16880"/>
                <a:lumOff val="-2745"/>
                <a:alphaOff val="0"/>
                <a:tint val="37000"/>
                <a:satMod val="300000"/>
              </a:schemeClr>
            </a:gs>
            <a:gs pos="100000">
              <a:schemeClr val="accent3">
                <a:hueOff val="11250264"/>
                <a:satOff val="-16880"/>
                <a:lumOff val="-274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kern="1200" dirty="0"/>
            <a:t>Percentage of customers with </a:t>
          </a:r>
          <a:r>
            <a:rPr lang="en-GB" sz="1200" b="1" kern="1200" dirty="0"/>
            <a:t>recency &gt; 30 days: 66.96%</a:t>
          </a:r>
        </a:p>
        <a:p>
          <a:pPr marL="0" lvl="0" indent="0" algn="l" defTabSz="533400">
            <a:lnSpc>
              <a:spcPct val="90000"/>
            </a:lnSpc>
            <a:spcBef>
              <a:spcPct val="0"/>
            </a:spcBef>
            <a:spcAft>
              <a:spcPct val="35000"/>
            </a:spcAft>
            <a:buNone/>
          </a:pPr>
          <a:r>
            <a:rPr lang="en-GB" sz="1200" kern="1200" dirty="0"/>
            <a:t>Number of inactive customers </a:t>
          </a:r>
          <a:r>
            <a:rPr lang="en-GB" sz="1200" b="1" kern="1200" dirty="0"/>
            <a:t>(&gt; 30 days): 150</a:t>
          </a:r>
        </a:p>
      </dsp:txBody>
      <dsp:txXfrm>
        <a:off x="1544671" y="1842109"/>
        <a:ext cx="5213525" cy="516556"/>
      </dsp:txXfrm>
    </dsp:sp>
    <dsp:sp modelId="{1DFC91DB-9A9B-4985-9109-6C3916D08DF4}">
      <dsp:nvSpPr>
        <dsp:cNvPr id="0" name=""/>
        <dsp:cNvSpPr/>
      </dsp:nvSpPr>
      <dsp:spPr>
        <a:xfrm>
          <a:off x="5757749" y="420253"/>
          <a:ext cx="356654" cy="356654"/>
        </a:xfrm>
        <a:prstGeom prst="downArrow">
          <a:avLst>
            <a:gd name="adj1" fmla="val 55000"/>
            <a:gd name="adj2" fmla="val 45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5837996" y="420253"/>
        <a:ext cx="196160" cy="268382"/>
      </dsp:txXfrm>
    </dsp:sp>
    <dsp:sp modelId="{78E23843-CF53-4172-8418-A103026C0E34}">
      <dsp:nvSpPr>
        <dsp:cNvPr id="0" name=""/>
        <dsp:cNvSpPr/>
      </dsp:nvSpPr>
      <dsp:spPr>
        <a:xfrm>
          <a:off x="6269830" y="1068715"/>
          <a:ext cx="356654" cy="356654"/>
        </a:xfrm>
        <a:prstGeom prst="downArrow">
          <a:avLst>
            <a:gd name="adj1" fmla="val 55000"/>
            <a:gd name="adj2" fmla="val 45000"/>
          </a:avLst>
        </a:prstGeom>
        <a:solidFill>
          <a:schemeClr val="accent3">
            <a:tint val="40000"/>
            <a:alpha val="90000"/>
            <a:hueOff val="5358427"/>
            <a:satOff val="-6896"/>
            <a:lumOff val="-537"/>
            <a:alphaOff val="0"/>
          </a:schemeClr>
        </a:solidFill>
        <a:ln w="9525" cap="flat" cmpd="sng" algn="ctr">
          <a:solidFill>
            <a:schemeClr val="accent3">
              <a:tint val="40000"/>
              <a:alpha val="90000"/>
              <a:hueOff val="5358427"/>
              <a:satOff val="-6896"/>
              <a:lumOff val="-53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350077" y="1068715"/>
        <a:ext cx="196160" cy="268382"/>
      </dsp:txXfrm>
    </dsp:sp>
    <dsp:sp modelId="{20E0B161-FEBC-4B20-AD77-2F6A267F9E86}">
      <dsp:nvSpPr>
        <dsp:cNvPr id="0" name=""/>
        <dsp:cNvSpPr/>
      </dsp:nvSpPr>
      <dsp:spPr>
        <a:xfrm>
          <a:off x="6774268" y="1717177"/>
          <a:ext cx="356654" cy="356654"/>
        </a:xfrm>
        <a:prstGeom prst="downArrow">
          <a:avLst>
            <a:gd name="adj1" fmla="val 55000"/>
            <a:gd name="adj2" fmla="val 45000"/>
          </a:avLst>
        </a:prstGeom>
        <a:solidFill>
          <a:schemeClr val="accent3">
            <a:tint val="40000"/>
            <a:alpha val="90000"/>
            <a:hueOff val="10716854"/>
            <a:satOff val="-13793"/>
            <a:lumOff val="-1075"/>
            <a:alphaOff val="0"/>
          </a:schemeClr>
        </a:solidFill>
        <a:ln w="9525" cap="flat" cmpd="sng" algn="ctr">
          <a:solidFill>
            <a:schemeClr val="accent3">
              <a:tint val="40000"/>
              <a:alpha val="90000"/>
              <a:hueOff val="10716854"/>
              <a:satOff val="-13793"/>
              <a:lumOff val="-107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854515" y="1717177"/>
        <a:ext cx="196160" cy="26838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18A222E-F211-0002-20F7-6352496A26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Oladamola</a:t>
            </a:r>
          </a:p>
        </p:txBody>
      </p:sp>
      <p:sp>
        <p:nvSpPr>
          <p:cNvPr id="3" name="Date Placeholder 2">
            <a:extLst>
              <a:ext uri="{FF2B5EF4-FFF2-40B4-BE49-F238E27FC236}">
                <a16:creationId xmlns:a16="http://schemas.microsoft.com/office/drawing/2014/main" id="{3AD9F4BA-F358-A81A-2E57-03803C93C3B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C06BBE-9722-4108-BA10-74B3B9C3153A}" type="datetime1">
              <a:rPr lang="en-GB" smtClean="0"/>
              <a:t>18/07/2025</a:t>
            </a:fld>
            <a:endParaRPr lang="en-GB"/>
          </a:p>
        </p:txBody>
      </p:sp>
      <p:sp>
        <p:nvSpPr>
          <p:cNvPr id="4" name="Footer Placeholder 3">
            <a:extLst>
              <a:ext uri="{FF2B5EF4-FFF2-40B4-BE49-F238E27FC236}">
                <a16:creationId xmlns:a16="http://schemas.microsoft.com/office/drawing/2014/main" id="{8221B486-01C5-52C2-C837-D857DC98DE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GB"/>
              <a:t>Oladamola Sunday</a:t>
            </a:r>
          </a:p>
        </p:txBody>
      </p:sp>
      <p:sp>
        <p:nvSpPr>
          <p:cNvPr id="5" name="Slide Number Placeholder 4">
            <a:extLst>
              <a:ext uri="{FF2B5EF4-FFF2-40B4-BE49-F238E27FC236}">
                <a16:creationId xmlns:a16="http://schemas.microsoft.com/office/drawing/2014/main" id="{347FEEEE-55C0-1E7A-95BF-0277F06309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6ED5C7-F74B-4F30-953E-A8F3DAECBFC0}" type="slidenum">
              <a:rPr lang="en-GB" smtClean="0"/>
              <a:t>‹#›</a:t>
            </a:fld>
            <a:endParaRPr lang="en-GB"/>
          </a:p>
        </p:txBody>
      </p:sp>
    </p:spTree>
    <p:extLst>
      <p:ext uri="{BB962C8B-B14F-4D97-AF65-F5344CB8AC3E}">
        <p14:creationId xmlns:p14="http://schemas.microsoft.com/office/powerpoint/2010/main" val="4014006955"/>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Oladamola</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E9BC50-31C9-4C79-BECA-4782B9D7F732}" type="datetime1">
              <a:rPr lang="en-GB" smtClean="0"/>
              <a:t>18/07/2025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GB"/>
              <a:t>Oladamola Sunday</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CDDBB-D040-44F9-AB68-7618ED3700A3}" type="slidenum">
              <a:rPr lang="en-GB" smtClean="0"/>
              <a:t>‹#›</a:t>
            </a:fld>
            <a:endParaRPr lang="en-GB"/>
          </a:p>
        </p:txBody>
      </p:sp>
    </p:spTree>
    <p:extLst>
      <p:ext uri="{BB962C8B-B14F-4D97-AF65-F5344CB8AC3E}">
        <p14:creationId xmlns:p14="http://schemas.microsoft.com/office/powerpoint/2010/main" val="1601682960"/>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BCDDBB-D040-44F9-AB68-7618ED3700A3}" type="slidenum">
              <a:rPr lang="en-GB" smtClean="0"/>
              <a:t>9</a:t>
            </a:fld>
            <a:endParaRPr lang="en-GB"/>
          </a:p>
        </p:txBody>
      </p:sp>
      <p:sp>
        <p:nvSpPr>
          <p:cNvPr id="5" name="Date Placeholder 4">
            <a:extLst>
              <a:ext uri="{FF2B5EF4-FFF2-40B4-BE49-F238E27FC236}">
                <a16:creationId xmlns:a16="http://schemas.microsoft.com/office/drawing/2014/main" id="{676165EA-34B8-268F-E080-FC20BA8B0259}"/>
              </a:ext>
            </a:extLst>
          </p:cNvPr>
          <p:cNvSpPr>
            <a:spLocks noGrp="1"/>
          </p:cNvSpPr>
          <p:nvPr>
            <p:ph type="dt" idx="1"/>
          </p:nvPr>
        </p:nvSpPr>
        <p:spPr/>
        <p:txBody>
          <a:bodyPr/>
          <a:lstStyle/>
          <a:p>
            <a:fld id="{78621444-225C-4401-A9DC-A4919A41FD0E}" type="datetime1">
              <a:rPr lang="en-GB" smtClean="0"/>
              <a:t>18/07/2025</a:t>
            </a:fld>
            <a:endParaRPr lang="en-GB"/>
          </a:p>
        </p:txBody>
      </p:sp>
      <p:sp>
        <p:nvSpPr>
          <p:cNvPr id="6" name="Footer Placeholder 5">
            <a:extLst>
              <a:ext uri="{FF2B5EF4-FFF2-40B4-BE49-F238E27FC236}">
                <a16:creationId xmlns:a16="http://schemas.microsoft.com/office/drawing/2014/main" id="{0B902B30-6CA0-6970-B31D-A0D4D8F0D8C0}"/>
              </a:ext>
            </a:extLst>
          </p:cNvPr>
          <p:cNvSpPr>
            <a:spLocks noGrp="1"/>
          </p:cNvSpPr>
          <p:nvPr>
            <p:ph type="ftr" sz="quarter" idx="4"/>
          </p:nvPr>
        </p:nvSpPr>
        <p:spPr/>
        <p:txBody>
          <a:bodyPr/>
          <a:lstStyle/>
          <a:p>
            <a:r>
              <a:rPr lang="en-GB"/>
              <a:t>Oladamola Sunday</a:t>
            </a:r>
          </a:p>
        </p:txBody>
      </p:sp>
      <p:sp>
        <p:nvSpPr>
          <p:cNvPr id="7" name="Header Placeholder 6">
            <a:extLst>
              <a:ext uri="{FF2B5EF4-FFF2-40B4-BE49-F238E27FC236}">
                <a16:creationId xmlns:a16="http://schemas.microsoft.com/office/drawing/2014/main" id="{097DA47A-E52B-7166-0AB2-1771F68C811C}"/>
              </a:ext>
            </a:extLst>
          </p:cNvPr>
          <p:cNvSpPr>
            <a:spLocks noGrp="1"/>
          </p:cNvSpPr>
          <p:nvPr>
            <p:ph type="hdr" sz="quarter"/>
          </p:nvPr>
        </p:nvSpPr>
        <p:spPr/>
        <p:txBody>
          <a:bodyPr/>
          <a:lstStyle/>
          <a:p>
            <a:r>
              <a:rPr lang="en-GB"/>
              <a:t>Oladamola</a:t>
            </a:r>
          </a:p>
        </p:txBody>
      </p:sp>
    </p:spTree>
    <p:extLst>
      <p:ext uri="{BB962C8B-B14F-4D97-AF65-F5344CB8AC3E}">
        <p14:creationId xmlns:p14="http://schemas.microsoft.com/office/powerpoint/2010/main" val="1602362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AA26042-50CB-499F-9435-5B4F79CEDC91}" type="datetime1">
              <a:rPr lang="en-GB" smtClean="0"/>
              <a:t>18/07/2025</a:t>
            </a:fld>
            <a:endParaRPr lang="en-US"/>
          </a:p>
        </p:txBody>
      </p:sp>
      <p:sp>
        <p:nvSpPr>
          <p:cNvPr id="5" name="Footer Placeholder 4"/>
          <p:cNvSpPr>
            <a:spLocks noGrp="1"/>
          </p:cNvSpPr>
          <p:nvPr>
            <p:ph type="ftr" sz="quarter" idx="11"/>
          </p:nvPr>
        </p:nvSpPr>
        <p:spPr/>
        <p:txBody>
          <a:bodyPr/>
          <a:lstStyle/>
          <a:p>
            <a:r>
              <a:rPr lang="en-US"/>
              <a:t>Oladamola Sunday</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FEF661A-596B-4CAC-922A-AE59CC61CD4F}" type="datetime1">
              <a:rPr lang="en-GB" smtClean="0"/>
              <a:t>18/07/2025</a:t>
            </a:fld>
            <a:endParaRPr lang="en-US"/>
          </a:p>
        </p:txBody>
      </p:sp>
      <p:sp>
        <p:nvSpPr>
          <p:cNvPr id="5" name="Footer Placeholder 4"/>
          <p:cNvSpPr>
            <a:spLocks noGrp="1"/>
          </p:cNvSpPr>
          <p:nvPr>
            <p:ph type="ftr" sz="quarter" idx="11"/>
          </p:nvPr>
        </p:nvSpPr>
        <p:spPr/>
        <p:txBody>
          <a:bodyPr/>
          <a:lstStyle/>
          <a:p>
            <a:r>
              <a:rPr lang="en-US"/>
              <a:t>Oladamola Sunday</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60DF35-69AC-4241-BE70-BEE155CDF677}" type="datetime1">
              <a:rPr lang="en-GB" smtClean="0"/>
              <a:t>18/07/2025</a:t>
            </a:fld>
            <a:endParaRPr lang="en-US"/>
          </a:p>
        </p:txBody>
      </p:sp>
      <p:sp>
        <p:nvSpPr>
          <p:cNvPr id="5" name="Footer Placeholder 4"/>
          <p:cNvSpPr>
            <a:spLocks noGrp="1"/>
          </p:cNvSpPr>
          <p:nvPr>
            <p:ph type="ftr" sz="quarter" idx="11"/>
          </p:nvPr>
        </p:nvSpPr>
        <p:spPr/>
        <p:txBody>
          <a:bodyPr/>
          <a:lstStyle/>
          <a:p>
            <a:r>
              <a:rPr lang="en-US"/>
              <a:t>Oladamola Sunday</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0335F3-45DB-43B3-9F8F-07489BC967C6}" type="datetime1">
              <a:rPr lang="en-GB" smtClean="0"/>
              <a:t>18/07/2025</a:t>
            </a:fld>
            <a:endParaRPr lang="en-US"/>
          </a:p>
        </p:txBody>
      </p:sp>
      <p:sp>
        <p:nvSpPr>
          <p:cNvPr id="6" name="Footer Placeholder 5"/>
          <p:cNvSpPr>
            <a:spLocks noGrp="1"/>
          </p:cNvSpPr>
          <p:nvPr>
            <p:ph type="ftr" sz="quarter" idx="11"/>
          </p:nvPr>
        </p:nvSpPr>
        <p:spPr/>
        <p:txBody>
          <a:bodyPr/>
          <a:lstStyle/>
          <a:p>
            <a:r>
              <a:rPr lang="en-US"/>
              <a:t>Oladamola Sunday</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DC898D3-6108-4704-BE3A-DA87B84AC40E}" type="datetime1">
              <a:rPr lang="en-GB" smtClean="0"/>
              <a:t>18/07/2025</a:t>
            </a:fld>
            <a:endParaRPr lang="en-US"/>
          </a:p>
        </p:txBody>
      </p:sp>
      <p:sp>
        <p:nvSpPr>
          <p:cNvPr id="8" name="Footer Placeholder 7"/>
          <p:cNvSpPr>
            <a:spLocks noGrp="1"/>
          </p:cNvSpPr>
          <p:nvPr>
            <p:ph type="ftr" sz="quarter" idx="11"/>
          </p:nvPr>
        </p:nvSpPr>
        <p:spPr/>
        <p:txBody>
          <a:bodyPr/>
          <a:lstStyle/>
          <a:p>
            <a:r>
              <a:rPr lang="en-US"/>
              <a:t>Oladamola Sunday</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0C2625-3740-46B8-9188-A3C12DEF0364}" type="datetime1">
              <a:rPr lang="en-GB" smtClean="0"/>
              <a:t>18/07/2025</a:t>
            </a:fld>
            <a:endParaRPr lang="en-US"/>
          </a:p>
        </p:txBody>
      </p:sp>
      <p:sp>
        <p:nvSpPr>
          <p:cNvPr id="4" name="Footer Placeholder 3"/>
          <p:cNvSpPr>
            <a:spLocks noGrp="1"/>
          </p:cNvSpPr>
          <p:nvPr>
            <p:ph type="ftr" sz="quarter" idx="11"/>
          </p:nvPr>
        </p:nvSpPr>
        <p:spPr/>
        <p:txBody>
          <a:bodyPr/>
          <a:lstStyle/>
          <a:p>
            <a:r>
              <a:rPr lang="en-US"/>
              <a:t>Oladamola Sunday</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A1E313-6EDB-4E89-B837-B1D2615F44DB}" type="datetime1">
              <a:rPr lang="en-GB" smtClean="0"/>
              <a:t>18/07/2025</a:t>
            </a:fld>
            <a:endParaRPr lang="en-US"/>
          </a:p>
        </p:txBody>
      </p:sp>
      <p:sp>
        <p:nvSpPr>
          <p:cNvPr id="3" name="Footer Placeholder 2"/>
          <p:cNvSpPr>
            <a:spLocks noGrp="1"/>
          </p:cNvSpPr>
          <p:nvPr>
            <p:ph type="ftr" sz="quarter" idx="11"/>
          </p:nvPr>
        </p:nvSpPr>
        <p:spPr/>
        <p:txBody>
          <a:bodyPr/>
          <a:lstStyle/>
          <a:p>
            <a:r>
              <a:rPr lang="en-US"/>
              <a:t>Oladamola Sunday</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CD76A4-61D1-4241-B540-B8F49FD78B5A}" type="datetime1">
              <a:rPr lang="en-GB" smtClean="0"/>
              <a:t>18/07/2025</a:t>
            </a:fld>
            <a:endParaRPr lang="en-US"/>
          </a:p>
        </p:txBody>
      </p:sp>
      <p:sp>
        <p:nvSpPr>
          <p:cNvPr id="6" name="Footer Placeholder 5"/>
          <p:cNvSpPr>
            <a:spLocks noGrp="1"/>
          </p:cNvSpPr>
          <p:nvPr>
            <p:ph type="ftr" sz="quarter" idx="11"/>
          </p:nvPr>
        </p:nvSpPr>
        <p:spPr/>
        <p:txBody>
          <a:bodyPr/>
          <a:lstStyle/>
          <a:p>
            <a:r>
              <a:rPr lang="en-US"/>
              <a:t>Oladamola Sunday</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527F00-C1BD-478A-84F8-68D22E2C9253}" type="datetime1">
              <a:rPr lang="en-GB" smtClean="0"/>
              <a:t>18/07/2025</a:t>
            </a:fld>
            <a:endParaRPr lang="en-US"/>
          </a:p>
        </p:txBody>
      </p:sp>
      <p:sp>
        <p:nvSpPr>
          <p:cNvPr id="6" name="Footer Placeholder 5"/>
          <p:cNvSpPr>
            <a:spLocks noGrp="1"/>
          </p:cNvSpPr>
          <p:nvPr>
            <p:ph type="ftr" sz="quarter" idx="11"/>
          </p:nvPr>
        </p:nvSpPr>
        <p:spPr/>
        <p:txBody>
          <a:bodyPr/>
          <a:lstStyle/>
          <a:p>
            <a:r>
              <a:rPr lang="en-US"/>
              <a:t>Oladamola Sunday</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8BDDA4-732C-4B47-A74F-847E06B23D8F}" type="datetime1">
              <a:rPr lang="en-GB" smtClean="0"/>
              <a:t>18/07/2025</a:t>
            </a:fld>
            <a:endParaRPr lang="en-US"/>
          </a:p>
        </p:txBody>
      </p:sp>
      <p:sp>
        <p:nvSpPr>
          <p:cNvPr id="5" name="Footer Placeholder 4"/>
          <p:cNvSpPr>
            <a:spLocks noGrp="1"/>
          </p:cNvSpPr>
          <p:nvPr>
            <p:ph type="ftr" sz="quarter" idx="11"/>
          </p:nvPr>
        </p:nvSpPr>
        <p:spPr/>
        <p:txBody>
          <a:bodyPr/>
          <a:lstStyle/>
          <a:p>
            <a:r>
              <a:rPr lang="en-US"/>
              <a:t>Oladamola Sunday</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17D2BA-D2EC-442A-86B0-D05B9CE7A30F}" type="datetime1">
              <a:rPr lang="en-GB" smtClean="0"/>
              <a:t>18/07/2025</a:t>
            </a:fld>
            <a:endParaRPr lang="en-US"/>
          </a:p>
        </p:txBody>
      </p:sp>
      <p:sp>
        <p:nvSpPr>
          <p:cNvPr id="5" name="Footer Placeholder 4"/>
          <p:cNvSpPr>
            <a:spLocks noGrp="1"/>
          </p:cNvSpPr>
          <p:nvPr>
            <p:ph type="ftr" sz="quarter" idx="11"/>
          </p:nvPr>
        </p:nvSpPr>
        <p:spPr/>
        <p:txBody>
          <a:bodyPr/>
          <a:lstStyle/>
          <a:p>
            <a:r>
              <a:rPr lang="en-US"/>
              <a:t>Oladamola Sunday</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7A7C93-134C-4753-AE2E-49FE04D82934}" type="datetime1">
              <a:rPr lang="en-GB" smtClean="0"/>
              <a:t>18/07/2025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Oladamola Sunday</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 y="325369"/>
            <a:ext cx="3276451" cy="1956841"/>
          </a:xfrm>
        </p:spPr>
        <p:txBody>
          <a:bodyPr anchor="b">
            <a:normAutofit/>
          </a:bodyPr>
          <a:lstStyle/>
          <a:p>
            <a:pPr>
              <a:lnSpc>
                <a:spcPct val="90000"/>
              </a:lnSpc>
            </a:pPr>
            <a:r>
              <a:rPr lang="en-GB" sz="2600" b="1" dirty="0" err="1"/>
              <a:t>FoodWheel</a:t>
            </a:r>
            <a:r>
              <a:rPr lang="en-GB" sz="2600" b="1" dirty="0"/>
              <a:t> Strategic Insights: Driving Growth Through Data</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80060" y="2872899"/>
            <a:ext cx="3182691" cy="2081884"/>
          </a:xfrm>
        </p:spPr>
        <p:txBody>
          <a:bodyPr>
            <a:normAutofit/>
          </a:bodyPr>
          <a:lstStyle/>
          <a:p>
            <a:endParaRPr lang="en-GB" sz="1900" dirty="0"/>
          </a:p>
          <a:p>
            <a:pPr marL="0" indent="0">
              <a:buNone/>
              <a:defRPr sz="2000">
                <a:solidFill>
                  <a:srgbClr val="323232"/>
                </a:solidFill>
                <a:latin typeface="Calibri"/>
              </a:defRPr>
            </a:pPr>
            <a:r>
              <a:rPr lang="en-GB" sz="1900" dirty="0"/>
              <a:t>Comprehensive Analysis of Restaurant Partnerships, Order Trends, and Customer Behaviour</a:t>
            </a:r>
          </a:p>
          <a:p>
            <a:pPr marL="0" indent="0">
              <a:buNone/>
              <a:defRPr sz="2000">
                <a:solidFill>
                  <a:srgbClr val="323232"/>
                </a:solidFill>
                <a:latin typeface="Calibri"/>
              </a:defRPr>
            </a:pPr>
            <a:endParaRPr lang="en-GB" sz="1900" dirty="0"/>
          </a:p>
        </p:txBody>
      </p:sp>
      <p:pic>
        <p:nvPicPr>
          <p:cNvPr id="5" name="Picture 4" descr="A variety of food items on a white surface&#10;&#10;AI-generated content may be incorrect.">
            <a:extLst>
              <a:ext uri="{FF2B5EF4-FFF2-40B4-BE49-F238E27FC236}">
                <a16:creationId xmlns:a16="http://schemas.microsoft.com/office/drawing/2014/main" id="{70EC4860-3069-FC5C-3D6D-88940E51FB8A}"/>
              </a:ext>
            </a:extLst>
          </p:cNvPr>
          <p:cNvPicPr>
            <a:picLocks noChangeAspect="1"/>
          </p:cNvPicPr>
          <p:nvPr/>
        </p:nvPicPr>
        <p:blipFill>
          <a:blip r:embed="rId2"/>
          <a:srcRect l="22250" r="35435"/>
          <a:stretch>
            <a:fillRect/>
          </a:stretch>
        </p:blipFill>
        <p:spPr>
          <a:xfrm>
            <a:off x="4204777" y="-2012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6" name="Content Placeholder 2">
            <a:extLst>
              <a:ext uri="{FF2B5EF4-FFF2-40B4-BE49-F238E27FC236}">
                <a16:creationId xmlns:a16="http://schemas.microsoft.com/office/drawing/2014/main" id="{BE72E89A-E25B-2B85-E16A-E0C40B68EB9E}"/>
              </a:ext>
            </a:extLst>
          </p:cNvPr>
          <p:cNvSpPr txBox="1">
            <a:spLocks/>
          </p:cNvSpPr>
          <p:nvPr/>
        </p:nvSpPr>
        <p:spPr>
          <a:xfrm>
            <a:off x="384436" y="6025396"/>
            <a:ext cx="3182691" cy="507235"/>
          </a:xfrm>
          <a:prstGeom prst="rect">
            <a:avLst/>
          </a:prstGeom>
        </p:spPr>
        <p:txBody>
          <a:bodyPr vert="horz" lIns="91440" tIns="45720" rIns="91440" bIns="45720" rtlCol="0">
            <a:normAutofit fontScale="850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defRPr sz="2000">
                <a:solidFill>
                  <a:srgbClr val="323232"/>
                </a:solidFill>
                <a:latin typeface="Calibri"/>
              </a:defRPr>
            </a:pPr>
            <a:r>
              <a:rPr lang="en-GB" sz="1900" b="1" dirty="0">
                <a:solidFill>
                  <a:srgbClr val="323232"/>
                </a:solidFill>
                <a:latin typeface="Calibri"/>
              </a:rPr>
              <a:t>Oladamola Sunday, Data Scientist</a:t>
            </a:r>
          </a:p>
          <a:p>
            <a:pPr>
              <a:defRPr sz="2000">
                <a:solidFill>
                  <a:srgbClr val="323232"/>
                </a:solidFill>
                <a:latin typeface="Calibri"/>
              </a:defRPr>
            </a:pPr>
            <a:endParaRPr lang="en-GB" sz="1900" b="1" dirty="0">
              <a:solidFill>
                <a:srgbClr val="323232"/>
              </a:solidFill>
              <a:latin typeface="Calibri"/>
            </a:endParaRPr>
          </a:p>
        </p:txBody>
      </p:sp>
      <p:sp>
        <p:nvSpPr>
          <p:cNvPr id="11" name="Date Placeholder 10">
            <a:extLst>
              <a:ext uri="{FF2B5EF4-FFF2-40B4-BE49-F238E27FC236}">
                <a16:creationId xmlns:a16="http://schemas.microsoft.com/office/drawing/2014/main" id="{DC593877-9168-06E9-F4C5-CD4675D03E77}"/>
              </a:ext>
            </a:extLst>
          </p:cNvPr>
          <p:cNvSpPr>
            <a:spLocks noGrp="1"/>
          </p:cNvSpPr>
          <p:nvPr>
            <p:ph type="dt" sz="half" idx="10"/>
          </p:nvPr>
        </p:nvSpPr>
        <p:spPr/>
        <p:txBody>
          <a:bodyPr/>
          <a:lstStyle/>
          <a:p>
            <a:fld id="{3EE23658-9DB6-4338-B2F4-C24C8A52BD97}" type="datetime1">
              <a:rPr lang="en-GB" smtClean="0"/>
              <a:t>18/07/2025</a:t>
            </a:fld>
            <a:endParaRPr lang="en-US"/>
          </a:p>
        </p:txBody>
      </p:sp>
      <p:sp>
        <p:nvSpPr>
          <p:cNvPr id="13" name="Slide Number Placeholder 12">
            <a:extLst>
              <a:ext uri="{FF2B5EF4-FFF2-40B4-BE49-F238E27FC236}">
                <a16:creationId xmlns:a16="http://schemas.microsoft.com/office/drawing/2014/main" id="{B20E01BF-C021-04F8-DCBA-8F319A5B0C7F}"/>
              </a:ext>
            </a:extLst>
          </p:cNvPr>
          <p:cNvSpPr>
            <a:spLocks noGrp="1"/>
          </p:cNvSpPr>
          <p:nvPr>
            <p:ph type="sldNum" sz="quarter" idx="12"/>
          </p:nvPr>
        </p:nvSpPr>
        <p:spPr/>
        <p:txBody>
          <a:bodyPr/>
          <a:lstStyle/>
          <a:p>
            <a:fld id="{C1FF6DA9-008F-8B48-92A6-B652298478BF}" type="slidenum">
              <a:rPr lang="en-US" smtClean="0"/>
              <a:t>1</a:t>
            </a:fld>
            <a:endParaRPr lang="en-US"/>
          </a:p>
        </p:txBody>
      </p:sp>
      <p:sp>
        <p:nvSpPr>
          <p:cNvPr id="15" name="Footer Placeholder 14">
            <a:extLst>
              <a:ext uri="{FF2B5EF4-FFF2-40B4-BE49-F238E27FC236}">
                <a16:creationId xmlns:a16="http://schemas.microsoft.com/office/drawing/2014/main" id="{52DFE7F5-D0C5-E852-2E96-C8E7AC2FFAC1}"/>
              </a:ext>
            </a:extLst>
          </p:cNvPr>
          <p:cNvSpPr>
            <a:spLocks noGrp="1"/>
          </p:cNvSpPr>
          <p:nvPr>
            <p:ph type="ftr" sz="quarter" idx="11"/>
          </p:nvPr>
        </p:nvSpPr>
        <p:spPr/>
        <p:txBody>
          <a:bodyPr/>
          <a:lstStyle/>
          <a:p>
            <a:r>
              <a:rPr lang="en-US"/>
              <a:t>Oladamola Sunday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256032"/>
            <a:ext cx="7879842" cy="1014984"/>
          </a:xfrm>
        </p:spPr>
        <p:txBody>
          <a:bodyPr anchor="b">
            <a:normAutofit/>
          </a:bodyPr>
          <a:lstStyle/>
          <a:p>
            <a:pPr>
              <a:lnSpc>
                <a:spcPct val="90000"/>
              </a:lnSpc>
            </a:pPr>
            <a:r>
              <a:rPr lang="en-GB" sz="3400"/>
              <a:t>Key Findings and Strategic Opportunities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41E035B-0354-6A45-575D-441E6563D5FF}"/>
              </a:ext>
            </a:extLst>
          </p:cNvPr>
          <p:cNvGraphicFramePr>
            <a:graphicFrameLocks noGrp="1"/>
          </p:cNvGraphicFramePr>
          <p:nvPr>
            <p:ph idx="1"/>
            <p:extLst>
              <p:ext uri="{D42A27DB-BD31-4B8C-83A1-F6EECF244321}">
                <p14:modId xmlns:p14="http://schemas.microsoft.com/office/powerpoint/2010/main" val="2635670357"/>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Date Placeholder 7">
            <a:extLst>
              <a:ext uri="{FF2B5EF4-FFF2-40B4-BE49-F238E27FC236}">
                <a16:creationId xmlns:a16="http://schemas.microsoft.com/office/drawing/2014/main" id="{30383D92-1F5B-6379-1CFB-D85A12AFD68A}"/>
              </a:ext>
            </a:extLst>
          </p:cNvPr>
          <p:cNvSpPr>
            <a:spLocks noGrp="1"/>
          </p:cNvSpPr>
          <p:nvPr>
            <p:ph type="dt" sz="half" idx="10"/>
          </p:nvPr>
        </p:nvSpPr>
        <p:spPr/>
        <p:txBody>
          <a:bodyPr/>
          <a:lstStyle/>
          <a:p>
            <a:fld id="{D99A88E1-7555-4FDE-98CC-5F8430C384B4}" type="datetime1">
              <a:rPr lang="en-GB" smtClean="0"/>
              <a:t>18/07/2025</a:t>
            </a:fld>
            <a:endParaRPr lang="en-US"/>
          </a:p>
        </p:txBody>
      </p:sp>
      <p:sp>
        <p:nvSpPr>
          <p:cNvPr id="10" name="Slide Number Placeholder 9">
            <a:extLst>
              <a:ext uri="{FF2B5EF4-FFF2-40B4-BE49-F238E27FC236}">
                <a16:creationId xmlns:a16="http://schemas.microsoft.com/office/drawing/2014/main" id="{093A4D92-9E23-B8D6-A379-713335194D4C}"/>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14" name="Footer Placeholder 13">
            <a:extLst>
              <a:ext uri="{FF2B5EF4-FFF2-40B4-BE49-F238E27FC236}">
                <a16:creationId xmlns:a16="http://schemas.microsoft.com/office/drawing/2014/main" id="{20D75B10-55D0-B62D-2AFC-26D7038D1E97}"/>
              </a:ext>
            </a:extLst>
          </p:cNvPr>
          <p:cNvSpPr>
            <a:spLocks noGrp="1"/>
          </p:cNvSpPr>
          <p:nvPr>
            <p:ph type="ftr" sz="quarter" idx="11"/>
          </p:nvPr>
        </p:nvSpPr>
        <p:spPr/>
        <p:txBody>
          <a:bodyPr/>
          <a:lstStyle/>
          <a:p>
            <a:r>
              <a:rPr lang="en-US"/>
              <a:t>Oladamola Sunday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3" name="Rectangle 8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639520"/>
            <a:ext cx="2571750" cy="1719072"/>
          </a:xfrm>
        </p:spPr>
        <p:txBody>
          <a:bodyPr vert="horz" lIns="91440" tIns="45720" rIns="91440" bIns="45720" rtlCol="0" anchor="b">
            <a:normAutofit/>
          </a:bodyPr>
          <a:lstStyle/>
          <a:p>
            <a:pPr defTabSz="914400">
              <a:lnSpc>
                <a:spcPct val="90000"/>
              </a:lnSpc>
            </a:pPr>
            <a:r>
              <a:rPr lang="en-US" sz="2900" kern="1200">
                <a:latin typeface="+mj-lt"/>
                <a:ea typeface="+mj-ea"/>
                <a:cs typeface="+mj-cs"/>
              </a:rPr>
              <a:t>What Cuisines Does FoodWheel Offer?</a:t>
            </a:r>
          </a:p>
        </p:txBody>
      </p:sp>
      <p:sp>
        <p:nvSpPr>
          <p:cNvPr id="85"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258792" y="2807208"/>
            <a:ext cx="2932982" cy="3410712"/>
          </a:xfrm>
        </p:spPr>
        <p:txBody>
          <a:bodyPr vert="horz" lIns="91440" tIns="45720" rIns="91440" bIns="45720" rtlCol="0" anchor="t">
            <a:normAutofit/>
          </a:bodyPr>
          <a:lstStyle/>
          <a:p>
            <a:pPr marL="400050" indent="-285750" defTabSz="914400">
              <a:lnSpc>
                <a:spcPct val="90000"/>
              </a:lnSpc>
              <a:defRPr sz="2000">
                <a:solidFill>
                  <a:srgbClr val="323232"/>
                </a:solidFill>
                <a:latin typeface="Calibri"/>
              </a:defRPr>
            </a:pPr>
            <a:r>
              <a:rPr lang="en-US" sz="1800" dirty="0"/>
              <a:t>7 cuisines: </a:t>
            </a:r>
            <a:r>
              <a:rPr lang="en-GB" sz="1800" dirty="0"/>
              <a:t>Chinese: 11 restaurants (25.0%), American: 10 restaurants (22.7%), Italian: 8 restaurants (18.2%), Pizza: 4 restaurants (9.1%), Vegetarian: 4 restaurants (9.1%), Japanese: 4 restaurants (9.1%), Korean: 3 restaurants (6.8%)</a:t>
            </a:r>
          </a:p>
          <a:p>
            <a:pPr marL="400050" indent="-285750" defTabSz="914400">
              <a:lnSpc>
                <a:spcPct val="90000"/>
              </a:lnSpc>
              <a:defRPr sz="2000">
                <a:solidFill>
                  <a:srgbClr val="323232"/>
                </a:solidFill>
                <a:latin typeface="Calibri"/>
              </a:defRPr>
            </a:pPr>
            <a:endParaRPr lang="en-US" sz="1800" dirty="0"/>
          </a:p>
        </p:txBody>
      </p:sp>
      <p:pic>
        <p:nvPicPr>
          <p:cNvPr id="14" name="Picture 13" descr="A bar graph with different colored bars&#10;&#10;AI-generated content may be incorrect.">
            <a:extLst>
              <a:ext uri="{FF2B5EF4-FFF2-40B4-BE49-F238E27FC236}">
                <a16:creationId xmlns:a16="http://schemas.microsoft.com/office/drawing/2014/main" id="{F9E1AD77-5558-AFB0-45E3-F3510D3C7EE5}"/>
              </a:ext>
            </a:extLst>
          </p:cNvPr>
          <p:cNvPicPr>
            <a:picLocks noChangeAspect="1"/>
          </p:cNvPicPr>
          <p:nvPr/>
        </p:nvPicPr>
        <p:blipFill>
          <a:blip r:embed="rId2"/>
          <a:stretch>
            <a:fillRect/>
          </a:stretch>
        </p:blipFill>
        <p:spPr>
          <a:xfrm>
            <a:off x="3111677" y="1377512"/>
            <a:ext cx="5974746" cy="3584847"/>
          </a:xfrm>
          <a:prstGeom prst="rect">
            <a:avLst/>
          </a:prstGeom>
        </p:spPr>
      </p:pic>
      <p:sp>
        <p:nvSpPr>
          <p:cNvPr id="8" name="Date Placeholder 7">
            <a:extLst>
              <a:ext uri="{FF2B5EF4-FFF2-40B4-BE49-F238E27FC236}">
                <a16:creationId xmlns:a16="http://schemas.microsoft.com/office/drawing/2014/main" id="{325AB183-E347-D155-453A-D9806AE2CCC8}"/>
              </a:ext>
            </a:extLst>
          </p:cNvPr>
          <p:cNvSpPr>
            <a:spLocks noGrp="1"/>
          </p:cNvSpPr>
          <p:nvPr>
            <p:ph type="dt" sz="half" idx="10"/>
          </p:nvPr>
        </p:nvSpPr>
        <p:spPr/>
        <p:txBody>
          <a:bodyPr/>
          <a:lstStyle/>
          <a:p>
            <a:fld id="{37B27DD7-667F-4685-8F11-AFBB57D92B2F}" type="datetime1">
              <a:rPr lang="en-GB" smtClean="0"/>
              <a:t>18/07/2025</a:t>
            </a:fld>
            <a:endParaRPr lang="en-US"/>
          </a:p>
        </p:txBody>
      </p:sp>
      <p:sp>
        <p:nvSpPr>
          <p:cNvPr id="9" name="Slide Number Placeholder 8">
            <a:extLst>
              <a:ext uri="{FF2B5EF4-FFF2-40B4-BE49-F238E27FC236}">
                <a16:creationId xmlns:a16="http://schemas.microsoft.com/office/drawing/2014/main" id="{FCBE3443-4A54-9011-CC82-3B2A5C44E887}"/>
              </a:ext>
            </a:extLst>
          </p:cNvPr>
          <p:cNvSpPr>
            <a:spLocks noGrp="1"/>
          </p:cNvSpPr>
          <p:nvPr>
            <p:ph type="sldNum" sz="quarter" idx="12"/>
          </p:nvPr>
        </p:nvSpPr>
        <p:spPr/>
        <p:txBody>
          <a:bodyPr/>
          <a:lstStyle/>
          <a:p>
            <a:fld id="{C1FF6DA9-008F-8B48-92A6-B652298478BF}" type="slidenum">
              <a:rPr lang="en-US" smtClean="0"/>
              <a:t>3</a:t>
            </a:fld>
            <a:endParaRPr lang="en-US"/>
          </a:p>
        </p:txBody>
      </p:sp>
      <p:sp>
        <p:nvSpPr>
          <p:cNvPr id="11" name="Footer Placeholder 10">
            <a:extLst>
              <a:ext uri="{FF2B5EF4-FFF2-40B4-BE49-F238E27FC236}">
                <a16:creationId xmlns:a16="http://schemas.microsoft.com/office/drawing/2014/main" id="{A18707CF-FB90-D53D-0BC7-012A0961F5DC}"/>
              </a:ext>
            </a:extLst>
          </p:cNvPr>
          <p:cNvSpPr>
            <a:spLocks noGrp="1"/>
          </p:cNvSpPr>
          <p:nvPr>
            <p:ph type="ftr" sz="quarter" idx="11"/>
          </p:nvPr>
        </p:nvSpPr>
        <p:spPr/>
        <p:txBody>
          <a:bodyPr/>
          <a:lstStyle/>
          <a:p>
            <a:r>
              <a:rPr lang="en-US"/>
              <a:t>Oladamola Sunday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15E246-252C-2623-D28F-13401E5BEB5E}"/>
            </a:ext>
          </a:extLst>
        </p:cNvPr>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922DA3-070B-40B1-70A4-C9703C6E1260}"/>
              </a:ext>
            </a:extLst>
          </p:cNvPr>
          <p:cNvSpPr>
            <a:spLocks noGrp="1"/>
          </p:cNvSpPr>
          <p:nvPr>
            <p:ph type="title"/>
          </p:nvPr>
        </p:nvSpPr>
        <p:spPr>
          <a:xfrm>
            <a:off x="473202" y="502920"/>
            <a:ext cx="2564892" cy="1463040"/>
          </a:xfrm>
        </p:spPr>
        <p:txBody>
          <a:bodyPr vert="horz" lIns="91440" tIns="45720" rIns="91440" bIns="45720" rtlCol="0" anchor="ctr">
            <a:normAutofit/>
          </a:bodyPr>
          <a:lstStyle/>
          <a:p>
            <a:pPr defTabSz="914400">
              <a:lnSpc>
                <a:spcPct val="90000"/>
              </a:lnSpc>
            </a:pPr>
            <a:r>
              <a:rPr lang="en-GB" sz="2300" b="1" dirty="0"/>
              <a:t>Cuisines distribution across neighbourhoods</a:t>
            </a:r>
            <a:endParaRPr lang="en-US" sz="2300" b="1" kern="1200" dirty="0">
              <a:latin typeface="+mj-lt"/>
              <a:ea typeface="+mj-ea"/>
              <a:cs typeface="+mj-cs"/>
            </a:endParaRPr>
          </a:p>
        </p:txBody>
      </p:sp>
      <p:sp>
        <p:nvSpPr>
          <p:cNvPr id="9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80309" y="1227582"/>
            <a:ext cx="1554480" cy="13716"/>
          </a:xfrm>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3820" y="4959"/>
                  <a:pt x="1554594" y="10798"/>
                  <a:pt x="1554480" y="13716"/>
                </a:cubicBezTo>
                <a:cubicBezTo>
                  <a:pt x="1338847" y="1555"/>
                  <a:pt x="1215066" y="33279"/>
                  <a:pt x="1067410" y="13716"/>
                </a:cubicBezTo>
                <a:cubicBezTo>
                  <a:pt x="919754" y="-5847"/>
                  <a:pt x="800465" y="-1492"/>
                  <a:pt x="549250" y="13716"/>
                </a:cubicBezTo>
                <a:cubicBezTo>
                  <a:pt x="298035" y="28924"/>
                  <a:pt x="158868" y="18197"/>
                  <a:pt x="0" y="13716"/>
                </a:cubicBezTo>
                <a:cubicBezTo>
                  <a:pt x="488" y="8630"/>
                  <a:pt x="480" y="6612"/>
                  <a:pt x="0" y="0"/>
                </a:cubicBezTo>
                <a:close/>
              </a:path>
              <a:path w="1554480" h="13716"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232" y="4157"/>
                  <a:pt x="1554673" y="7559"/>
                  <a:pt x="1554480" y="13716"/>
                </a:cubicBezTo>
                <a:cubicBezTo>
                  <a:pt x="1336087" y="7600"/>
                  <a:pt x="1310024" y="15187"/>
                  <a:pt x="1067410" y="13716"/>
                </a:cubicBezTo>
                <a:cubicBezTo>
                  <a:pt x="824796" y="12246"/>
                  <a:pt x="787902" y="30075"/>
                  <a:pt x="518160" y="13716"/>
                </a:cubicBezTo>
                <a:cubicBezTo>
                  <a:pt x="248418" y="-2643"/>
                  <a:pt x="133160" y="4633"/>
                  <a:pt x="0" y="13716"/>
                </a:cubicBezTo>
                <a:cubicBezTo>
                  <a:pt x="43" y="9160"/>
                  <a:pt x="-111" y="481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454BA1B-BF84-0839-817B-982BB2054C22}"/>
              </a:ext>
            </a:extLst>
          </p:cNvPr>
          <p:cNvSpPr>
            <a:spLocks noGrp="1"/>
          </p:cNvSpPr>
          <p:nvPr>
            <p:ph idx="1"/>
          </p:nvPr>
        </p:nvSpPr>
        <p:spPr>
          <a:xfrm>
            <a:off x="3477004" y="218235"/>
            <a:ext cx="5239211" cy="1965103"/>
          </a:xfrm>
        </p:spPr>
        <p:txBody>
          <a:bodyPr vert="horz" lIns="91440" tIns="45720" rIns="91440" bIns="45720" rtlCol="0" anchor="ctr">
            <a:noAutofit/>
          </a:bodyPr>
          <a:lstStyle/>
          <a:p>
            <a:pPr>
              <a:lnSpc>
                <a:spcPct val="90000"/>
              </a:lnSpc>
            </a:pPr>
            <a:r>
              <a:rPr lang="en-GB" sz="1800" dirty="0"/>
              <a:t>Downtown: 14 restaurants (31.8%), Brooklyn: 10 restaurants (22.7%), Midtown: 8 restaurants (18.2%), Chinatown: 7 restaurants (15.9%), Uptown: 3 restaurants (6.8%), Queens: 1 restaurant (2.3%), UWS: 1 restaurant (2.3%)</a:t>
            </a:r>
            <a:endParaRPr lang="en-US" sz="1800" dirty="0"/>
          </a:p>
          <a:p>
            <a:pPr marL="400050" indent="-285750" defTabSz="914400">
              <a:lnSpc>
                <a:spcPct val="90000"/>
              </a:lnSpc>
              <a:defRPr sz="2000">
                <a:solidFill>
                  <a:srgbClr val="323232"/>
                </a:solidFill>
                <a:latin typeface="Calibri"/>
              </a:defRPr>
            </a:pPr>
            <a:r>
              <a:rPr lang="en-US" sz="1800" dirty="0"/>
              <a:t>Coverage strong in Downtown/Brooklyn; weak in Queens/UWS/Uptown.</a:t>
            </a:r>
          </a:p>
        </p:txBody>
      </p:sp>
      <p:pic>
        <p:nvPicPr>
          <p:cNvPr id="12" name="Picture 11" descr="A screenshot of a computer game&#10;&#10;AI-generated content may be incorrect.">
            <a:extLst>
              <a:ext uri="{FF2B5EF4-FFF2-40B4-BE49-F238E27FC236}">
                <a16:creationId xmlns:a16="http://schemas.microsoft.com/office/drawing/2014/main" id="{C31FF8A4-6E4B-94A1-3D93-6D6400E55FB4}"/>
              </a:ext>
            </a:extLst>
          </p:cNvPr>
          <p:cNvPicPr>
            <a:picLocks noChangeAspect="1"/>
          </p:cNvPicPr>
          <p:nvPr/>
        </p:nvPicPr>
        <p:blipFill>
          <a:blip r:embed="rId2"/>
          <a:srcRect r="7350"/>
          <a:stretch>
            <a:fillRect/>
          </a:stretch>
        </p:blipFill>
        <p:spPr>
          <a:xfrm>
            <a:off x="1625334" y="2117597"/>
            <a:ext cx="6037877" cy="4350011"/>
          </a:xfrm>
          <a:prstGeom prst="rect">
            <a:avLst/>
          </a:prstGeom>
        </p:spPr>
      </p:pic>
      <p:sp>
        <p:nvSpPr>
          <p:cNvPr id="8" name="Date Placeholder 7">
            <a:extLst>
              <a:ext uri="{FF2B5EF4-FFF2-40B4-BE49-F238E27FC236}">
                <a16:creationId xmlns:a16="http://schemas.microsoft.com/office/drawing/2014/main" id="{86B8269A-F3B6-EC7D-3DFC-E0D610F55A26}"/>
              </a:ext>
            </a:extLst>
          </p:cNvPr>
          <p:cNvSpPr>
            <a:spLocks noGrp="1"/>
          </p:cNvSpPr>
          <p:nvPr>
            <p:ph type="dt" sz="half" idx="10"/>
          </p:nvPr>
        </p:nvSpPr>
        <p:spPr/>
        <p:txBody>
          <a:bodyPr/>
          <a:lstStyle/>
          <a:p>
            <a:fld id="{B26C00E3-7F9F-4E78-A5F9-31870FC8E698}" type="datetime1">
              <a:rPr lang="en-GB" smtClean="0"/>
              <a:t>18/07/2025</a:t>
            </a:fld>
            <a:endParaRPr lang="en-US"/>
          </a:p>
        </p:txBody>
      </p:sp>
      <p:sp>
        <p:nvSpPr>
          <p:cNvPr id="9" name="Slide Number Placeholder 8">
            <a:extLst>
              <a:ext uri="{FF2B5EF4-FFF2-40B4-BE49-F238E27FC236}">
                <a16:creationId xmlns:a16="http://schemas.microsoft.com/office/drawing/2014/main" id="{5891843C-1132-8F09-DCC0-FE6C02BAF596}"/>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11" name="Footer Placeholder 10">
            <a:extLst>
              <a:ext uri="{FF2B5EF4-FFF2-40B4-BE49-F238E27FC236}">
                <a16:creationId xmlns:a16="http://schemas.microsoft.com/office/drawing/2014/main" id="{D44E1F9F-F49B-AB12-17C4-FB207914B638}"/>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2822574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894846-1FBA-D5CE-FB98-F8A6FA5B94A1}"/>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3B53363A-20D1-9066-D62C-FF7FA5B340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3" name="Rectangle 62">
            <a:extLst>
              <a:ext uri="{FF2B5EF4-FFF2-40B4-BE49-F238E27FC236}">
                <a16:creationId xmlns:a16="http://schemas.microsoft.com/office/drawing/2014/main" id="{7981324C-2A79-D879-34A5-8961C4296B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365125"/>
            <a:ext cx="8375585"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2BA2D19-194A-7284-D007-5C0F257A4656}"/>
              </a:ext>
            </a:extLst>
          </p:cNvPr>
          <p:cNvSpPr>
            <a:spLocks noGrp="1"/>
          </p:cNvSpPr>
          <p:nvPr>
            <p:ph type="title"/>
          </p:nvPr>
        </p:nvSpPr>
        <p:spPr>
          <a:xfrm>
            <a:off x="511825" y="586822"/>
            <a:ext cx="2943424" cy="1645920"/>
          </a:xfrm>
        </p:spPr>
        <p:txBody>
          <a:bodyPr>
            <a:normAutofit fontScale="90000"/>
          </a:bodyPr>
          <a:lstStyle/>
          <a:p>
            <a:r>
              <a:rPr lang="en-GB" sz="2800" b="1"/>
              <a:t>How Has the Average Order Amount and Numbers of Order Changed Over Time?</a:t>
            </a:r>
            <a:endParaRPr lang="en-GB" sz="2800" b="1" dirty="0"/>
          </a:p>
        </p:txBody>
      </p:sp>
      <p:sp>
        <p:nvSpPr>
          <p:cNvPr id="65" name="Rectangle 64">
            <a:extLst>
              <a:ext uri="{FF2B5EF4-FFF2-40B4-BE49-F238E27FC236}">
                <a16:creationId xmlns:a16="http://schemas.microsoft.com/office/drawing/2014/main" id="{160AFFA3-4AB8-9176-3DCC-706594D24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105773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67" name="Rectangle 66">
            <a:extLst>
              <a:ext uri="{FF2B5EF4-FFF2-40B4-BE49-F238E27FC236}">
                <a16:creationId xmlns:a16="http://schemas.microsoft.com/office/drawing/2014/main" id="{3C91BBDC-14AE-FA05-F030-A6FA1270F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99776" y="1402924"/>
            <a:ext cx="14630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85E113A-EBBC-B528-324B-64331F561362}"/>
              </a:ext>
            </a:extLst>
          </p:cNvPr>
          <p:cNvSpPr>
            <a:spLocks noGrp="1"/>
          </p:cNvSpPr>
          <p:nvPr>
            <p:ph idx="1"/>
          </p:nvPr>
        </p:nvSpPr>
        <p:spPr>
          <a:xfrm>
            <a:off x="4013373" y="424329"/>
            <a:ext cx="4501977" cy="1930399"/>
          </a:xfrm>
        </p:spPr>
        <p:txBody>
          <a:bodyPr anchor="ctr">
            <a:normAutofit/>
          </a:bodyPr>
          <a:lstStyle/>
          <a:p>
            <a:pPr>
              <a:defRPr sz="2000">
                <a:solidFill>
                  <a:srgbClr val="323232"/>
                </a:solidFill>
                <a:latin typeface="Calibri"/>
              </a:defRPr>
            </a:pPr>
            <a:r>
              <a:rPr lang="en-GB" sz="1800"/>
              <a:t>April: $9.61 (87 orders), Sept: $29.51 (85 orders), +207.06%.</a:t>
            </a:r>
          </a:p>
          <a:p>
            <a:pPr>
              <a:defRPr sz="2000">
                <a:solidFill>
                  <a:srgbClr val="323232"/>
                </a:solidFill>
                <a:latin typeface="Calibri"/>
              </a:defRPr>
            </a:pPr>
            <a:r>
              <a:rPr lang="en-GB" sz="1800"/>
              <a:t>August dip to 73 orders.</a:t>
            </a:r>
          </a:p>
          <a:p>
            <a:pPr>
              <a:defRPr sz="2000">
                <a:solidFill>
                  <a:srgbClr val="323232"/>
                </a:solidFill>
                <a:latin typeface="Calibri"/>
              </a:defRPr>
            </a:pPr>
            <a:r>
              <a:rPr lang="en-GB" sz="1800"/>
              <a:t>T-test for prices: p&lt;0.0000 significant growth.</a:t>
            </a:r>
          </a:p>
          <a:p>
            <a:pPr>
              <a:defRPr sz="2000">
                <a:solidFill>
                  <a:srgbClr val="323232"/>
                </a:solidFill>
                <a:latin typeface="Calibri"/>
              </a:defRPr>
            </a:pPr>
            <a:endParaRPr lang="en-GB" sz="1800" dirty="0"/>
          </a:p>
        </p:txBody>
      </p:sp>
      <p:pic>
        <p:nvPicPr>
          <p:cNvPr id="5" name="Picture 4" descr="A graph of a graph showing the average order amount and order count over time&#10;&#10;AI-generated content may be incorrect.">
            <a:extLst>
              <a:ext uri="{FF2B5EF4-FFF2-40B4-BE49-F238E27FC236}">
                <a16:creationId xmlns:a16="http://schemas.microsoft.com/office/drawing/2014/main" id="{34EDBCDD-7910-7A2B-FB16-3E0133B050A6}"/>
              </a:ext>
            </a:extLst>
          </p:cNvPr>
          <p:cNvPicPr>
            <a:picLocks noChangeAspect="1"/>
          </p:cNvPicPr>
          <p:nvPr/>
        </p:nvPicPr>
        <p:blipFill>
          <a:blip r:embed="rId2"/>
          <a:stretch>
            <a:fillRect/>
          </a:stretch>
        </p:blipFill>
        <p:spPr>
          <a:xfrm>
            <a:off x="1075765" y="2501992"/>
            <a:ext cx="6771341" cy="4062804"/>
          </a:xfrm>
          <a:prstGeom prst="rect">
            <a:avLst/>
          </a:prstGeom>
        </p:spPr>
      </p:pic>
      <p:sp>
        <p:nvSpPr>
          <p:cNvPr id="10" name="Date Placeholder 9">
            <a:extLst>
              <a:ext uri="{FF2B5EF4-FFF2-40B4-BE49-F238E27FC236}">
                <a16:creationId xmlns:a16="http://schemas.microsoft.com/office/drawing/2014/main" id="{8BAC51B1-7272-1117-B08D-4B1170A01851}"/>
              </a:ext>
            </a:extLst>
          </p:cNvPr>
          <p:cNvSpPr>
            <a:spLocks noGrp="1"/>
          </p:cNvSpPr>
          <p:nvPr>
            <p:ph type="dt" sz="half" idx="10"/>
          </p:nvPr>
        </p:nvSpPr>
        <p:spPr/>
        <p:txBody>
          <a:bodyPr/>
          <a:lstStyle/>
          <a:p>
            <a:fld id="{E6289587-A324-4A5E-B018-A36A868123D5}" type="datetime1">
              <a:rPr lang="en-GB" smtClean="0"/>
              <a:t>18/07/2025</a:t>
            </a:fld>
            <a:endParaRPr lang="en-US"/>
          </a:p>
        </p:txBody>
      </p:sp>
      <p:sp>
        <p:nvSpPr>
          <p:cNvPr id="11" name="Slide Number Placeholder 10">
            <a:extLst>
              <a:ext uri="{FF2B5EF4-FFF2-40B4-BE49-F238E27FC236}">
                <a16:creationId xmlns:a16="http://schemas.microsoft.com/office/drawing/2014/main" id="{EF38C594-B90D-6A3C-8DC8-FB8670692FC9}"/>
              </a:ext>
            </a:extLst>
          </p:cNvPr>
          <p:cNvSpPr>
            <a:spLocks noGrp="1"/>
          </p:cNvSpPr>
          <p:nvPr>
            <p:ph type="sldNum" sz="quarter" idx="12"/>
          </p:nvPr>
        </p:nvSpPr>
        <p:spPr/>
        <p:txBody>
          <a:bodyPr/>
          <a:lstStyle/>
          <a:p>
            <a:fld id="{C1FF6DA9-008F-8B48-92A6-B652298478BF}" type="slidenum">
              <a:rPr lang="en-US" smtClean="0"/>
              <a:t>5</a:t>
            </a:fld>
            <a:endParaRPr lang="en-US"/>
          </a:p>
        </p:txBody>
      </p:sp>
      <p:sp>
        <p:nvSpPr>
          <p:cNvPr id="13" name="Footer Placeholder 12">
            <a:extLst>
              <a:ext uri="{FF2B5EF4-FFF2-40B4-BE49-F238E27FC236}">
                <a16:creationId xmlns:a16="http://schemas.microsoft.com/office/drawing/2014/main" id="{EE80A6E4-A65A-0A6A-2951-37812F236B30}"/>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1556259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F17AA3-FFFC-E59B-317F-E39C8C68AC1D}"/>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3" name="Rectangle 62">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365125"/>
            <a:ext cx="8375585"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591C59C-38F7-1115-3DBC-DBC17727F749}"/>
              </a:ext>
            </a:extLst>
          </p:cNvPr>
          <p:cNvSpPr>
            <a:spLocks noGrp="1"/>
          </p:cNvSpPr>
          <p:nvPr>
            <p:ph type="title"/>
          </p:nvPr>
        </p:nvSpPr>
        <p:spPr>
          <a:xfrm>
            <a:off x="785059" y="586822"/>
            <a:ext cx="2670189" cy="1645920"/>
          </a:xfrm>
        </p:spPr>
        <p:txBody>
          <a:bodyPr>
            <a:normAutofit/>
          </a:bodyPr>
          <a:lstStyle/>
          <a:p>
            <a:r>
              <a:rPr lang="en-GB" sz="2800" b="1" dirty="0"/>
              <a:t>Customers and their orders</a:t>
            </a:r>
          </a:p>
        </p:txBody>
      </p:sp>
      <p:sp>
        <p:nvSpPr>
          <p:cNvPr id="65" name="Rectangle 64">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105773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67" name="Rectangle 66">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99776" y="1402924"/>
            <a:ext cx="14630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D067184-D18D-6477-870B-DBD051FE9C93}"/>
              </a:ext>
            </a:extLst>
          </p:cNvPr>
          <p:cNvSpPr>
            <a:spLocks noGrp="1"/>
          </p:cNvSpPr>
          <p:nvPr>
            <p:ph idx="1"/>
          </p:nvPr>
        </p:nvSpPr>
        <p:spPr>
          <a:xfrm>
            <a:off x="4013373" y="586822"/>
            <a:ext cx="4501977" cy="1645920"/>
          </a:xfrm>
        </p:spPr>
        <p:txBody>
          <a:bodyPr anchor="ctr">
            <a:normAutofit/>
          </a:bodyPr>
          <a:lstStyle/>
          <a:p>
            <a:r>
              <a:rPr lang="en-GB" sz="1800" dirty="0"/>
              <a:t>Avg. 2.23 orders per customer; ~70% with 2+ orders</a:t>
            </a:r>
          </a:p>
          <a:p>
            <a:r>
              <a:rPr lang="en-GB" sz="1800" dirty="0"/>
              <a:t>Least order per customer 1; Highest 7</a:t>
            </a:r>
          </a:p>
        </p:txBody>
      </p:sp>
      <p:pic>
        <p:nvPicPr>
          <p:cNvPr id="5" name="Picture 4" descr="A graph with red bars&#10;&#10;AI-generated content may be incorrect.">
            <a:extLst>
              <a:ext uri="{FF2B5EF4-FFF2-40B4-BE49-F238E27FC236}">
                <a16:creationId xmlns:a16="http://schemas.microsoft.com/office/drawing/2014/main" id="{CF7720CF-30BE-D41A-485F-4C52BD7C1F33}"/>
              </a:ext>
            </a:extLst>
          </p:cNvPr>
          <p:cNvPicPr>
            <a:picLocks noChangeAspect="1"/>
          </p:cNvPicPr>
          <p:nvPr/>
        </p:nvPicPr>
        <p:blipFill>
          <a:blip r:embed="rId2"/>
          <a:stretch>
            <a:fillRect/>
          </a:stretch>
        </p:blipFill>
        <p:spPr>
          <a:xfrm>
            <a:off x="1524000" y="2545879"/>
            <a:ext cx="6459653" cy="4037285"/>
          </a:xfrm>
          <a:prstGeom prst="rect">
            <a:avLst/>
          </a:prstGeom>
        </p:spPr>
      </p:pic>
      <p:sp>
        <p:nvSpPr>
          <p:cNvPr id="9" name="Date Placeholder 8">
            <a:extLst>
              <a:ext uri="{FF2B5EF4-FFF2-40B4-BE49-F238E27FC236}">
                <a16:creationId xmlns:a16="http://schemas.microsoft.com/office/drawing/2014/main" id="{3E642A0C-D565-4CC8-2F16-E4772D0962A4}"/>
              </a:ext>
            </a:extLst>
          </p:cNvPr>
          <p:cNvSpPr>
            <a:spLocks noGrp="1"/>
          </p:cNvSpPr>
          <p:nvPr>
            <p:ph type="dt" sz="half" idx="10"/>
          </p:nvPr>
        </p:nvSpPr>
        <p:spPr/>
        <p:txBody>
          <a:bodyPr/>
          <a:lstStyle/>
          <a:p>
            <a:fld id="{5C8472E7-C969-4762-BE90-CB6E40B0A58D}" type="datetime1">
              <a:rPr lang="en-GB" smtClean="0"/>
              <a:t>18/07/2025</a:t>
            </a:fld>
            <a:endParaRPr lang="en-US"/>
          </a:p>
        </p:txBody>
      </p:sp>
      <p:sp>
        <p:nvSpPr>
          <p:cNvPr id="10" name="Slide Number Placeholder 9">
            <a:extLst>
              <a:ext uri="{FF2B5EF4-FFF2-40B4-BE49-F238E27FC236}">
                <a16:creationId xmlns:a16="http://schemas.microsoft.com/office/drawing/2014/main" id="{C881E18F-031E-3545-CC1F-4F3FE8AD01E0}"/>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12" name="Footer Placeholder 11">
            <a:extLst>
              <a:ext uri="{FF2B5EF4-FFF2-40B4-BE49-F238E27FC236}">
                <a16:creationId xmlns:a16="http://schemas.microsoft.com/office/drawing/2014/main" id="{6B1403C4-D03D-5116-F02A-C6010357AAC7}"/>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2750530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6" name="Rectangle 35">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365125"/>
            <a:ext cx="8375585"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785059" y="586822"/>
            <a:ext cx="2670189" cy="1645920"/>
          </a:xfrm>
        </p:spPr>
        <p:txBody>
          <a:bodyPr>
            <a:normAutofit/>
          </a:bodyPr>
          <a:lstStyle/>
          <a:p>
            <a:r>
              <a:rPr lang="en-GB" sz="2800" b="1" dirty="0"/>
              <a:t>Optimizing Pricing and Operations</a:t>
            </a:r>
          </a:p>
        </p:txBody>
      </p:sp>
      <p:sp>
        <p:nvSpPr>
          <p:cNvPr id="38" name="Rectangle 37">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105773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40" name="Rectangle 39">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99776" y="1402924"/>
            <a:ext cx="14630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3824495" y="816580"/>
            <a:ext cx="4501977" cy="1416162"/>
          </a:xfrm>
        </p:spPr>
        <p:txBody>
          <a:bodyPr anchor="ctr">
            <a:noAutofit/>
          </a:bodyPr>
          <a:lstStyle/>
          <a:p>
            <a:r>
              <a:rPr lang="en-GB" sz="1800" dirty="0"/>
              <a:t>Min $3, Median $17, IQR $13–$22, Max $40</a:t>
            </a:r>
          </a:p>
          <a:p>
            <a:pPr lvl="0"/>
            <a:r>
              <a:rPr lang="en-GB" sz="1800" dirty="0"/>
              <a:t>Outliers: $36-$40</a:t>
            </a:r>
          </a:p>
          <a:p>
            <a:r>
              <a:rPr lang="en-GB" sz="1800" dirty="0"/>
              <a:t>500 orders; Average Order Value (AOV): $17.90</a:t>
            </a:r>
          </a:p>
        </p:txBody>
      </p:sp>
      <p:pic>
        <p:nvPicPr>
          <p:cNvPr id="8" name="Picture 7" descr="A chart with a rectangle&#10;&#10;AI-generated content may be incorrect.">
            <a:extLst>
              <a:ext uri="{FF2B5EF4-FFF2-40B4-BE49-F238E27FC236}">
                <a16:creationId xmlns:a16="http://schemas.microsoft.com/office/drawing/2014/main" id="{C75C5BF7-2E60-9A3B-224F-BE6CD0E7FA71}"/>
              </a:ext>
            </a:extLst>
          </p:cNvPr>
          <p:cNvPicPr>
            <a:picLocks noChangeAspect="1"/>
          </p:cNvPicPr>
          <p:nvPr/>
        </p:nvPicPr>
        <p:blipFill>
          <a:blip r:embed="rId2"/>
          <a:stretch>
            <a:fillRect/>
          </a:stretch>
        </p:blipFill>
        <p:spPr>
          <a:xfrm>
            <a:off x="1421033" y="2567368"/>
            <a:ext cx="6619240" cy="3971544"/>
          </a:xfrm>
          <a:prstGeom prst="rect">
            <a:avLst/>
          </a:prstGeom>
        </p:spPr>
      </p:pic>
      <p:sp>
        <p:nvSpPr>
          <p:cNvPr id="9" name="Date Placeholder 8">
            <a:extLst>
              <a:ext uri="{FF2B5EF4-FFF2-40B4-BE49-F238E27FC236}">
                <a16:creationId xmlns:a16="http://schemas.microsoft.com/office/drawing/2014/main" id="{C4150B59-CECA-6198-20C3-CA8B85C8B3C6}"/>
              </a:ext>
            </a:extLst>
          </p:cNvPr>
          <p:cNvSpPr>
            <a:spLocks noGrp="1"/>
          </p:cNvSpPr>
          <p:nvPr>
            <p:ph type="dt" sz="half" idx="10"/>
          </p:nvPr>
        </p:nvSpPr>
        <p:spPr/>
        <p:txBody>
          <a:bodyPr/>
          <a:lstStyle/>
          <a:p>
            <a:fld id="{A070FDB5-AD09-4A52-ACFB-3F88C68D1A69}" type="datetime1">
              <a:rPr lang="en-GB" smtClean="0"/>
              <a:t>18/07/2025</a:t>
            </a:fld>
            <a:endParaRPr lang="en-US"/>
          </a:p>
        </p:txBody>
      </p:sp>
      <p:sp>
        <p:nvSpPr>
          <p:cNvPr id="10" name="Slide Number Placeholder 9">
            <a:extLst>
              <a:ext uri="{FF2B5EF4-FFF2-40B4-BE49-F238E27FC236}">
                <a16:creationId xmlns:a16="http://schemas.microsoft.com/office/drawing/2014/main" id="{F14CAC4E-7AD6-BD0A-0050-54C620E93929}"/>
              </a:ext>
            </a:extLst>
          </p:cNvPr>
          <p:cNvSpPr>
            <a:spLocks noGrp="1"/>
          </p:cNvSpPr>
          <p:nvPr>
            <p:ph type="sldNum" sz="quarter" idx="12"/>
          </p:nvPr>
        </p:nvSpPr>
        <p:spPr/>
        <p:txBody>
          <a:bodyPr/>
          <a:lstStyle/>
          <a:p>
            <a:fld id="{C1FF6DA9-008F-8B48-92A6-B652298478BF}" type="slidenum">
              <a:rPr lang="en-US" smtClean="0"/>
              <a:t>7</a:t>
            </a:fld>
            <a:endParaRPr lang="en-US"/>
          </a:p>
        </p:txBody>
      </p:sp>
      <p:sp>
        <p:nvSpPr>
          <p:cNvPr id="12" name="Footer Placeholder 11">
            <a:extLst>
              <a:ext uri="{FF2B5EF4-FFF2-40B4-BE49-F238E27FC236}">
                <a16:creationId xmlns:a16="http://schemas.microsoft.com/office/drawing/2014/main" id="{414983D0-CA8A-B4C2-C356-AB7A029DFEF0}"/>
              </a:ext>
            </a:extLst>
          </p:cNvPr>
          <p:cNvSpPr>
            <a:spLocks noGrp="1"/>
          </p:cNvSpPr>
          <p:nvPr>
            <p:ph type="ftr" sz="quarter" idx="11"/>
          </p:nvPr>
        </p:nvSpPr>
        <p:spPr/>
        <p:txBody>
          <a:bodyPr/>
          <a:lstStyle/>
          <a:p>
            <a:r>
              <a:rPr lang="en-US"/>
              <a:t>Oladamola Sunday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2C952B-4F55-B268-AE9C-EBB933573D7D}"/>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0B552024-70AC-AC63-CC4D-83E463629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3" name="Rectangle 62">
            <a:extLst>
              <a:ext uri="{FF2B5EF4-FFF2-40B4-BE49-F238E27FC236}">
                <a16:creationId xmlns:a16="http://schemas.microsoft.com/office/drawing/2014/main" id="{581A0A6C-9F21-3CD1-129B-E36881CCB3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365125"/>
            <a:ext cx="8375585"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424DEF-BEAE-37F5-0CBB-8D9C24F79732}"/>
              </a:ext>
            </a:extLst>
          </p:cNvPr>
          <p:cNvSpPr>
            <a:spLocks noGrp="1"/>
          </p:cNvSpPr>
          <p:nvPr>
            <p:ph type="title"/>
          </p:nvPr>
        </p:nvSpPr>
        <p:spPr>
          <a:xfrm>
            <a:off x="785059" y="586822"/>
            <a:ext cx="2670189" cy="1645920"/>
          </a:xfrm>
        </p:spPr>
        <p:txBody>
          <a:bodyPr>
            <a:normAutofit/>
          </a:bodyPr>
          <a:lstStyle/>
          <a:p>
            <a:r>
              <a:rPr lang="en-GB" sz="2800" b="1" dirty="0"/>
              <a:t>How Much Are Customers Spending?</a:t>
            </a:r>
          </a:p>
        </p:txBody>
      </p:sp>
      <p:sp>
        <p:nvSpPr>
          <p:cNvPr id="65" name="Rectangle 64">
            <a:extLst>
              <a:ext uri="{FF2B5EF4-FFF2-40B4-BE49-F238E27FC236}">
                <a16:creationId xmlns:a16="http://schemas.microsoft.com/office/drawing/2014/main" id="{B311EA33-4486-D927-E38C-6685C8CC0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105773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67" name="Rectangle 66">
            <a:extLst>
              <a:ext uri="{FF2B5EF4-FFF2-40B4-BE49-F238E27FC236}">
                <a16:creationId xmlns:a16="http://schemas.microsoft.com/office/drawing/2014/main" id="{D27C1F29-FA6A-BB3B-849A-7A2E8E06D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99776" y="1402924"/>
            <a:ext cx="14630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283FF533-6A92-23EB-20B1-56B5D01A4B7A}"/>
              </a:ext>
            </a:extLst>
          </p:cNvPr>
          <p:cNvSpPr>
            <a:spLocks noGrp="1"/>
          </p:cNvSpPr>
          <p:nvPr>
            <p:ph idx="1"/>
          </p:nvPr>
        </p:nvSpPr>
        <p:spPr>
          <a:xfrm>
            <a:off x="4013373" y="586822"/>
            <a:ext cx="4501977" cy="1645920"/>
          </a:xfrm>
        </p:spPr>
        <p:txBody>
          <a:bodyPr anchor="ctr">
            <a:normAutofit/>
          </a:bodyPr>
          <a:lstStyle/>
          <a:p>
            <a:r>
              <a:rPr lang="en-GB" sz="1800" dirty="0"/>
              <a:t>224 customers, total revenue $8,950 ($39.96 avg., median ~$35)</a:t>
            </a:r>
          </a:p>
          <a:p>
            <a:r>
              <a:rPr lang="en-GB" sz="1800" dirty="0"/>
              <a:t>Highest $145, Lowest $6</a:t>
            </a:r>
          </a:p>
        </p:txBody>
      </p:sp>
      <p:pic>
        <p:nvPicPr>
          <p:cNvPr id="4" name="Picture 3" descr="A graph with red lines&#10;&#10;AI-generated content may be incorrect.">
            <a:extLst>
              <a:ext uri="{FF2B5EF4-FFF2-40B4-BE49-F238E27FC236}">
                <a16:creationId xmlns:a16="http://schemas.microsoft.com/office/drawing/2014/main" id="{BB252A2E-40BA-2222-36C0-91EEC5D043E7}"/>
              </a:ext>
            </a:extLst>
          </p:cNvPr>
          <p:cNvPicPr>
            <a:picLocks noChangeAspect="1"/>
          </p:cNvPicPr>
          <p:nvPr/>
        </p:nvPicPr>
        <p:blipFill>
          <a:blip r:embed="rId2"/>
          <a:stretch>
            <a:fillRect/>
          </a:stretch>
        </p:blipFill>
        <p:spPr>
          <a:xfrm>
            <a:off x="1130548" y="2454443"/>
            <a:ext cx="6816395" cy="4089836"/>
          </a:xfrm>
          <a:prstGeom prst="rect">
            <a:avLst/>
          </a:prstGeom>
        </p:spPr>
      </p:pic>
      <p:sp>
        <p:nvSpPr>
          <p:cNvPr id="10" name="Date Placeholder 9">
            <a:extLst>
              <a:ext uri="{FF2B5EF4-FFF2-40B4-BE49-F238E27FC236}">
                <a16:creationId xmlns:a16="http://schemas.microsoft.com/office/drawing/2014/main" id="{2B928560-BFAF-DC16-81E8-3144C296F481}"/>
              </a:ext>
            </a:extLst>
          </p:cNvPr>
          <p:cNvSpPr>
            <a:spLocks noGrp="1"/>
          </p:cNvSpPr>
          <p:nvPr>
            <p:ph type="dt" sz="half" idx="10"/>
          </p:nvPr>
        </p:nvSpPr>
        <p:spPr/>
        <p:txBody>
          <a:bodyPr/>
          <a:lstStyle/>
          <a:p>
            <a:fld id="{1E2B9784-00DB-4D70-8628-73ADADA588DA}" type="datetime1">
              <a:rPr lang="en-GB" smtClean="0"/>
              <a:t>18/07/2025</a:t>
            </a:fld>
            <a:endParaRPr lang="en-US"/>
          </a:p>
        </p:txBody>
      </p:sp>
      <p:sp>
        <p:nvSpPr>
          <p:cNvPr id="11" name="Slide Number Placeholder 10">
            <a:extLst>
              <a:ext uri="{FF2B5EF4-FFF2-40B4-BE49-F238E27FC236}">
                <a16:creationId xmlns:a16="http://schemas.microsoft.com/office/drawing/2014/main" id="{4288A4DF-B950-2982-008D-93C6D151ACCE}"/>
              </a:ext>
            </a:extLst>
          </p:cNvPr>
          <p:cNvSpPr>
            <a:spLocks noGrp="1"/>
          </p:cNvSpPr>
          <p:nvPr>
            <p:ph type="sldNum" sz="quarter" idx="12"/>
          </p:nvPr>
        </p:nvSpPr>
        <p:spPr/>
        <p:txBody>
          <a:bodyPr/>
          <a:lstStyle/>
          <a:p>
            <a:fld id="{C1FF6DA9-008F-8B48-92A6-B652298478BF}" type="slidenum">
              <a:rPr lang="en-US" smtClean="0"/>
              <a:t>8</a:t>
            </a:fld>
            <a:endParaRPr lang="en-US"/>
          </a:p>
        </p:txBody>
      </p:sp>
      <p:sp>
        <p:nvSpPr>
          <p:cNvPr id="13" name="Footer Placeholder 12">
            <a:extLst>
              <a:ext uri="{FF2B5EF4-FFF2-40B4-BE49-F238E27FC236}">
                <a16:creationId xmlns:a16="http://schemas.microsoft.com/office/drawing/2014/main" id="{DAC0DB6A-1DC8-3A42-B6D4-272288EB8CA6}"/>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1976125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17BCA1-6234-CFA8-4D30-7DB3B4661346}"/>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2BC0CE-51A2-4F33-7FD1-1D42F6513B6C}"/>
              </a:ext>
            </a:extLst>
          </p:cNvPr>
          <p:cNvSpPr>
            <a:spLocks noGrp="1"/>
          </p:cNvSpPr>
          <p:nvPr>
            <p:ph type="title"/>
          </p:nvPr>
        </p:nvSpPr>
        <p:spPr>
          <a:xfrm>
            <a:off x="473202" y="640823"/>
            <a:ext cx="2564892" cy="5583148"/>
          </a:xfrm>
        </p:spPr>
        <p:txBody>
          <a:bodyPr anchor="ctr">
            <a:normAutofit/>
          </a:bodyPr>
          <a:lstStyle/>
          <a:p>
            <a:r>
              <a:rPr lang="en-GB" sz="4000" b="1" dirty="0"/>
              <a:t>How are customers segmented by their total spending?</a:t>
            </a:r>
          </a:p>
        </p:txBody>
      </p:sp>
      <p:sp>
        <p:nvSpPr>
          <p:cNvPr id="44"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00400" y="630936"/>
            <a:ext cx="13716" cy="5590381"/>
          </a:xfrm>
          <a:custGeom>
            <a:avLst/>
            <a:gdLst>
              <a:gd name="connsiteX0" fmla="*/ 0 w 13716"/>
              <a:gd name="connsiteY0" fmla="*/ 0 h 5590381"/>
              <a:gd name="connsiteX1" fmla="*/ 13716 w 13716"/>
              <a:gd name="connsiteY1" fmla="*/ 0 h 5590381"/>
              <a:gd name="connsiteX2" fmla="*/ 13716 w 13716"/>
              <a:gd name="connsiteY2" fmla="*/ 754701 h 5590381"/>
              <a:gd name="connsiteX3" fmla="*/ 13716 w 13716"/>
              <a:gd name="connsiteY3" fmla="*/ 1565307 h 5590381"/>
              <a:gd name="connsiteX4" fmla="*/ 13716 w 13716"/>
              <a:gd name="connsiteY4" fmla="*/ 2152297 h 5590381"/>
              <a:gd name="connsiteX5" fmla="*/ 13716 w 13716"/>
              <a:gd name="connsiteY5" fmla="*/ 2906998 h 5590381"/>
              <a:gd name="connsiteX6" fmla="*/ 13716 w 13716"/>
              <a:gd name="connsiteY6" fmla="*/ 3549892 h 5590381"/>
              <a:gd name="connsiteX7" fmla="*/ 13716 w 13716"/>
              <a:gd name="connsiteY7" fmla="*/ 4080978 h 5590381"/>
              <a:gd name="connsiteX8" fmla="*/ 13716 w 13716"/>
              <a:gd name="connsiteY8" fmla="*/ 4835680 h 5590381"/>
              <a:gd name="connsiteX9" fmla="*/ 13716 w 13716"/>
              <a:gd name="connsiteY9" fmla="*/ 5590381 h 5590381"/>
              <a:gd name="connsiteX10" fmla="*/ 0 w 13716"/>
              <a:gd name="connsiteY10" fmla="*/ 5590381 h 5590381"/>
              <a:gd name="connsiteX11" fmla="*/ 0 w 13716"/>
              <a:gd name="connsiteY11" fmla="*/ 4835680 h 5590381"/>
              <a:gd name="connsiteX12" fmla="*/ 0 w 13716"/>
              <a:gd name="connsiteY12" fmla="*/ 4304593 h 5590381"/>
              <a:gd name="connsiteX13" fmla="*/ 0 w 13716"/>
              <a:gd name="connsiteY13" fmla="*/ 3773507 h 5590381"/>
              <a:gd name="connsiteX14" fmla="*/ 0 w 13716"/>
              <a:gd name="connsiteY14" fmla="*/ 3186517 h 5590381"/>
              <a:gd name="connsiteX15" fmla="*/ 0 w 13716"/>
              <a:gd name="connsiteY15" fmla="*/ 2487720 h 5590381"/>
              <a:gd name="connsiteX16" fmla="*/ 0 w 13716"/>
              <a:gd name="connsiteY16" fmla="*/ 1956633 h 5590381"/>
              <a:gd name="connsiteX17" fmla="*/ 0 w 13716"/>
              <a:gd name="connsiteY17" fmla="*/ 1425547 h 5590381"/>
              <a:gd name="connsiteX18" fmla="*/ 0 w 13716"/>
              <a:gd name="connsiteY18" fmla="*/ 614942 h 5590381"/>
              <a:gd name="connsiteX19" fmla="*/ 0 w 13716"/>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716" h="5590381" fill="none" extrusionOk="0">
                <a:moveTo>
                  <a:pt x="0" y="0"/>
                </a:moveTo>
                <a:cubicBezTo>
                  <a:pt x="6519" y="-664"/>
                  <a:pt x="8288" y="665"/>
                  <a:pt x="13716" y="0"/>
                </a:cubicBezTo>
                <a:cubicBezTo>
                  <a:pt x="-9798" y="225076"/>
                  <a:pt x="41703" y="562283"/>
                  <a:pt x="13716" y="754701"/>
                </a:cubicBezTo>
                <a:cubicBezTo>
                  <a:pt x="-14271" y="947119"/>
                  <a:pt x="25509" y="1239251"/>
                  <a:pt x="13716" y="1565307"/>
                </a:cubicBezTo>
                <a:cubicBezTo>
                  <a:pt x="1923" y="1891363"/>
                  <a:pt x="2588" y="1999140"/>
                  <a:pt x="13716" y="2152297"/>
                </a:cubicBezTo>
                <a:cubicBezTo>
                  <a:pt x="24845" y="2305454"/>
                  <a:pt x="24133" y="2598333"/>
                  <a:pt x="13716" y="2906998"/>
                </a:cubicBezTo>
                <a:cubicBezTo>
                  <a:pt x="3299" y="3215663"/>
                  <a:pt x="30691" y="3327412"/>
                  <a:pt x="13716" y="3549892"/>
                </a:cubicBezTo>
                <a:cubicBezTo>
                  <a:pt x="-3259" y="3772372"/>
                  <a:pt x="33989" y="3843836"/>
                  <a:pt x="13716" y="4080978"/>
                </a:cubicBezTo>
                <a:cubicBezTo>
                  <a:pt x="-6557" y="4318120"/>
                  <a:pt x="-8378" y="4511166"/>
                  <a:pt x="13716" y="4835680"/>
                </a:cubicBezTo>
                <a:cubicBezTo>
                  <a:pt x="35810" y="5160194"/>
                  <a:pt x="-17642" y="5401748"/>
                  <a:pt x="13716" y="5590381"/>
                </a:cubicBezTo>
                <a:cubicBezTo>
                  <a:pt x="8599" y="5590092"/>
                  <a:pt x="6708" y="5590668"/>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3716" h="5590381" stroke="0" extrusionOk="0">
                <a:moveTo>
                  <a:pt x="0" y="0"/>
                </a:moveTo>
                <a:cubicBezTo>
                  <a:pt x="4626" y="620"/>
                  <a:pt x="7856" y="-428"/>
                  <a:pt x="13716" y="0"/>
                </a:cubicBezTo>
                <a:cubicBezTo>
                  <a:pt x="36569" y="165299"/>
                  <a:pt x="-959" y="427555"/>
                  <a:pt x="13716" y="698798"/>
                </a:cubicBezTo>
                <a:cubicBezTo>
                  <a:pt x="28391" y="970041"/>
                  <a:pt x="15108" y="1226199"/>
                  <a:pt x="13716" y="1397595"/>
                </a:cubicBezTo>
                <a:cubicBezTo>
                  <a:pt x="12324" y="1568991"/>
                  <a:pt x="34226" y="1794517"/>
                  <a:pt x="13716" y="2152297"/>
                </a:cubicBezTo>
                <a:cubicBezTo>
                  <a:pt x="-6794" y="2510077"/>
                  <a:pt x="36274" y="2594424"/>
                  <a:pt x="13716" y="2739287"/>
                </a:cubicBezTo>
                <a:cubicBezTo>
                  <a:pt x="-8842" y="2884150"/>
                  <a:pt x="22545" y="3129706"/>
                  <a:pt x="13716" y="3493988"/>
                </a:cubicBezTo>
                <a:cubicBezTo>
                  <a:pt x="4887" y="3858270"/>
                  <a:pt x="49629" y="4041447"/>
                  <a:pt x="13716" y="4304593"/>
                </a:cubicBezTo>
                <a:cubicBezTo>
                  <a:pt x="-22197" y="4567740"/>
                  <a:pt x="45055" y="5149125"/>
                  <a:pt x="13716" y="5590381"/>
                </a:cubicBezTo>
                <a:cubicBezTo>
                  <a:pt x="9649" y="5590058"/>
                  <a:pt x="6483" y="5589928"/>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of a bar chart&#10;&#10;AI-generated content may be incorrect.">
            <a:extLst>
              <a:ext uri="{FF2B5EF4-FFF2-40B4-BE49-F238E27FC236}">
                <a16:creationId xmlns:a16="http://schemas.microsoft.com/office/drawing/2014/main" id="{D2C82C4F-8FED-541D-3DE8-AB99619606B0}"/>
              </a:ext>
            </a:extLst>
          </p:cNvPr>
          <p:cNvPicPr>
            <a:picLocks noChangeAspect="1"/>
          </p:cNvPicPr>
          <p:nvPr/>
        </p:nvPicPr>
        <p:blipFill>
          <a:blip r:embed="rId3"/>
          <a:stretch>
            <a:fillRect/>
          </a:stretch>
        </p:blipFill>
        <p:spPr>
          <a:xfrm>
            <a:off x="3490722" y="1036472"/>
            <a:ext cx="5509150" cy="3305489"/>
          </a:xfrm>
          <a:prstGeom prst="rect">
            <a:avLst/>
          </a:prstGeom>
        </p:spPr>
      </p:pic>
      <p:sp>
        <p:nvSpPr>
          <p:cNvPr id="3" name="Content Placeholder 2">
            <a:extLst>
              <a:ext uri="{FF2B5EF4-FFF2-40B4-BE49-F238E27FC236}">
                <a16:creationId xmlns:a16="http://schemas.microsoft.com/office/drawing/2014/main" id="{CB10378B-D5A7-02C0-E672-4F67272B6145}"/>
              </a:ext>
            </a:extLst>
          </p:cNvPr>
          <p:cNvSpPr>
            <a:spLocks noGrp="1"/>
          </p:cNvSpPr>
          <p:nvPr>
            <p:ph idx="1"/>
          </p:nvPr>
        </p:nvSpPr>
        <p:spPr>
          <a:xfrm>
            <a:off x="3490722" y="4798577"/>
            <a:ext cx="5170932" cy="1428487"/>
          </a:xfrm>
        </p:spPr>
        <p:txBody>
          <a:bodyPr anchor="t">
            <a:normAutofit/>
          </a:bodyPr>
          <a:lstStyle/>
          <a:p>
            <a:pPr>
              <a:lnSpc>
                <a:spcPct val="90000"/>
              </a:lnSpc>
              <a:defRPr sz="2000">
                <a:solidFill>
                  <a:srgbClr val="323232"/>
                </a:solidFill>
                <a:latin typeface="Calibri"/>
              </a:defRPr>
            </a:pPr>
            <a:r>
              <a:rPr lang="en-GB" sz="1800" dirty="0"/>
              <a:t>Segments: Low (&lt; $22), Mid ($22–52), and High (&gt; $52)</a:t>
            </a:r>
          </a:p>
          <a:p>
            <a:pPr>
              <a:lnSpc>
                <a:spcPct val="90000"/>
              </a:lnSpc>
              <a:defRPr sz="2000">
                <a:solidFill>
                  <a:srgbClr val="323232"/>
                </a:solidFill>
                <a:latin typeface="Calibri"/>
              </a:defRPr>
            </a:pPr>
            <a:r>
              <a:rPr lang="en-GB" sz="1800" dirty="0"/>
              <a:t>Mid-Value:  49.11% (110);  Low-Value:  25.89% (58);  High-Value:    25.00% (56)</a:t>
            </a:r>
          </a:p>
          <a:p>
            <a:pPr>
              <a:lnSpc>
                <a:spcPct val="90000"/>
              </a:lnSpc>
            </a:pPr>
            <a:endParaRPr lang="en-GB" sz="1800" dirty="0"/>
          </a:p>
          <a:p>
            <a:pPr marL="0" indent="0">
              <a:lnSpc>
                <a:spcPct val="90000"/>
              </a:lnSpc>
              <a:buNone/>
              <a:defRPr sz="2000">
                <a:solidFill>
                  <a:srgbClr val="323232"/>
                </a:solidFill>
                <a:latin typeface="Calibri"/>
              </a:defRPr>
            </a:pPr>
            <a:endParaRPr lang="en-GB" sz="1800" dirty="0"/>
          </a:p>
        </p:txBody>
      </p:sp>
      <p:sp>
        <p:nvSpPr>
          <p:cNvPr id="9" name="Date Placeholder 8">
            <a:extLst>
              <a:ext uri="{FF2B5EF4-FFF2-40B4-BE49-F238E27FC236}">
                <a16:creationId xmlns:a16="http://schemas.microsoft.com/office/drawing/2014/main" id="{68286C21-4848-972E-3B61-E157B6D4AB76}"/>
              </a:ext>
            </a:extLst>
          </p:cNvPr>
          <p:cNvSpPr>
            <a:spLocks noGrp="1"/>
          </p:cNvSpPr>
          <p:nvPr>
            <p:ph type="dt" sz="half" idx="10"/>
          </p:nvPr>
        </p:nvSpPr>
        <p:spPr/>
        <p:txBody>
          <a:bodyPr/>
          <a:lstStyle/>
          <a:p>
            <a:fld id="{4CBFFF5F-9DE5-4EEA-B633-43377E30A2D8}" type="datetime1">
              <a:rPr lang="en-GB" smtClean="0"/>
              <a:t>18/07/2025</a:t>
            </a:fld>
            <a:endParaRPr lang="en-US"/>
          </a:p>
        </p:txBody>
      </p:sp>
      <p:sp>
        <p:nvSpPr>
          <p:cNvPr id="10" name="Slide Number Placeholder 9">
            <a:extLst>
              <a:ext uri="{FF2B5EF4-FFF2-40B4-BE49-F238E27FC236}">
                <a16:creationId xmlns:a16="http://schemas.microsoft.com/office/drawing/2014/main" id="{F8B7DC1D-90E1-47C0-A63F-A0C956D650F1}"/>
              </a:ext>
            </a:extLst>
          </p:cNvPr>
          <p:cNvSpPr>
            <a:spLocks noGrp="1"/>
          </p:cNvSpPr>
          <p:nvPr>
            <p:ph type="sldNum" sz="quarter" idx="12"/>
          </p:nvPr>
        </p:nvSpPr>
        <p:spPr/>
        <p:txBody>
          <a:bodyPr/>
          <a:lstStyle/>
          <a:p>
            <a:fld id="{C1FF6DA9-008F-8B48-92A6-B652298478BF}" type="slidenum">
              <a:rPr lang="en-US" smtClean="0"/>
              <a:t>9</a:t>
            </a:fld>
            <a:endParaRPr lang="en-US"/>
          </a:p>
        </p:txBody>
      </p:sp>
      <p:sp>
        <p:nvSpPr>
          <p:cNvPr id="12" name="Footer Placeholder 11">
            <a:extLst>
              <a:ext uri="{FF2B5EF4-FFF2-40B4-BE49-F238E27FC236}">
                <a16:creationId xmlns:a16="http://schemas.microsoft.com/office/drawing/2014/main" id="{2B5D8DFA-C9C3-6A4D-E18D-2878E2E79E80}"/>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4260543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E0B7D3-C58E-8F8B-A2FB-B0B99AA1EE1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88333D0-C419-E409-7019-1B33AD6BD4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22F276-2179-7E27-95D8-C710DA7E9A05}"/>
              </a:ext>
            </a:extLst>
          </p:cNvPr>
          <p:cNvSpPr>
            <a:spLocks noGrp="1"/>
          </p:cNvSpPr>
          <p:nvPr>
            <p:ph type="title"/>
          </p:nvPr>
        </p:nvSpPr>
        <p:spPr>
          <a:xfrm>
            <a:off x="153783" y="640823"/>
            <a:ext cx="2912154" cy="5583148"/>
          </a:xfrm>
        </p:spPr>
        <p:txBody>
          <a:bodyPr anchor="ctr">
            <a:normAutofit/>
          </a:bodyPr>
          <a:lstStyle/>
          <a:p>
            <a:r>
              <a:rPr lang="en-GB" sz="3600" b="1" dirty="0"/>
              <a:t>Customers Spending Proportion based on Segment</a:t>
            </a:r>
          </a:p>
        </p:txBody>
      </p:sp>
      <p:sp>
        <p:nvSpPr>
          <p:cNvPr id="13" name="sketch line">
            <a:extLst>
              <a:ext uri="{FF2B5EF4-FFF2-40B4-BE49-F238E27FC236}">
                <a16:creationId xmlns:a16="http://schemas.microsoft.com/office/drawing/2014/main" id="{4C67FBBA-52AB-69E9-C92B-540E3BA51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00400" y="630936"/>
            <a:ext cx="13716" cy="5590381"/>
          </a:xfrm>
          <a:custGeom>
            <a:avLst/>
            <a:gdLst>
              <a:gd name="connsiteX0" fmla="*/ 0 w 13716"/>
              <a:gd name="connsiteY0" fmla="*/ 0 h 5590381"/>
              <a:gd name="connsiteX1" fmla="*/ 13716 w 13716"/>
              <a:gd name="connsiteY1" fmla="*/ 0 h 5590381"/>
              <a:gd name="connsiteX2" fmla="*/ 13716 w 13716"/>
              <a:gd name="connsiteY2" fmla="*/ 754701 h 5590381"/>
              <a:gd name="connsiteX3" fmla="*/ 13716 w 13716"/>
              <a:gd name="connsiteY3" fmla="*/ 1565307 h 5590381"/>
              <a:gd name="connsiteX4" fmla="*/ 13716 w 13716"/>
              <a:gd name="connsiteY4" fmla="*/ 2152297 h 5590381"/>
              <a:gd name="connsiteX5" fmla="*/ 13716 w 13716"/>
              <a:gd name="connsiteY5" fmla="*/ 2906998 h 5590381"/>
              <a:gd name="connsiteX6" fmla="*/ 13716 w 13716"/>
              <a:gd name="connsiteY6" fmla="*/ 3549892 h 5590381"/>
              <a:gd name="connsiteX7" fmla="*/ 13716 w 13716"/>
              <a:gd name="connsiteY7" fmla="*/ 4080978 h 5590381"/>
              <a:gd name="connsiteX8" fmla="*/ 13716 w 13716"/>
              <a:gd name="connsiteY8" fmla="*/ 4835680 h 5590381"/>
              <a:gd name="connsiteX9" fmla="*/ 13716 w 13716"/>
              <a:gd name="connsiteY9" fmla="*/ 5590381 h 5590381"/>
              <a:gd name="connsiteX10" fmla="*/ 0 w 13716"/>
              <a:gd name="connsiteY10" fmla="*/ 5590381 h 5590381"/>
              <a:gd name="connsiteX11" fmla="*/ 0 w 13716"/>
              <a:gd name="connsiteY11" fmla="*/ 4835680 h 5590381"/>
              <a:gd name="connsiteX12" fmla="*/ 0 w 13716"/>
              <a:gd name="connsiteY12" fmla="*/ 4304593 h 5590381"/>
              <a:gd name="connsiteX13" fmla="*/ 0 w 13716"/>
              <a:gd name="connsiteY13" fmla="*/ 3773507 h 5590381"/>
              <a:gd name="connsiteX14" fmla="*/ 0 w 13716"/>
              <a:gd name="connsiteY14" fmla="*/ 3186517 h 5590381"/>
              <a:gd name="connsiteX15" fmla="*/ 0 w 13716"/>
              <a:gd name="connsiteY15" fmla="*/ 2487720 h 5590381"/>
              <a:gd name="connsiteX16" fmla="*/ 0 w 13716"/>
              <a:gd name="connsiteY16" fmla="*/ 1956633 h 5590381"/>
              <a:gd name="connsiteX17" fmla="*/ 0 w 13716"/>
              <a:gd name="connsiteY17" fmla="*/ 1425547 h 5590381"/>
              <a:gd name="connsiteX18" fmla="*/ 0 w 13716"/>
              <a:gd name="connsiteY18" fmla="*/ 614942 h 5590381"/>
              <a:gd name="connsiteX19" fmla="*/ 0 w 13716"/>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716" h="5590381" fill="none" extrusionOk="0">
                <a:moveTo>
                  <a:pt x="0" y="0"/>
                </a:moveTo>
                <a:cubicBezTo>
                  <a:pt x="6519" y="-664"/>
                  <a:pt x="8288" y="665"/>
                  <a:pt x="13716" y="0"/>
                </a:cubicBezTo>
                <a:cubicBezTo>
                  <a:pt x="-9798" y="225076"/>
                  <a:pt x="41703" y="562283"/>
                  <a:pt x="13716" y="754701"/>
                </a:cubicBezTo>
                <a:cubicBezTo>
                  <a:pt x="-14271" y="947119"/>
                  <a:pt x="25509" y="1239251"/>
                  <a:pt x="13716" y="1565307"/>
                </a:cubicBezTo>
                <a:cubicBezTo>
                  <a:pt x="1923" y="1891363"/>
                  <a:pt x="2588" y="1999140"/>
                  <a:pt x="13716" y="2152297"/>
                </a:cubicBezTo>
                <a:cubicBezTo>
                  <a:pt x="24845" y="2305454"/>
                  <a:pt x="24133" y="2598333"/>
                  <a:pt x="13716" y="2906998"/>
                </a:cubicBezTo>
                <a:cubicBezTo>
                  <a:pt x="3299" y="3215663"/>
                  <a:pt x="30691" y="3327412"/>
                  <a:pt x="13716" y="3549892"/>
                </a:cubicBezTo>
                <a:cubicBezTo>
                  <a:pt x="-3259" y="3772372"/>
                  <a:pt x="33989" y="3843836"/>
                  <a:pt x="13716" y="4080978"/>
                </a:cubicBezTo>
                <a:cubicBezTo>
                  <a:pt x="-6557" y="4318120"/>
                  <a:pt x="-8378" y="4511166"/>
                  <a:pt x="13716" y="4835680"/>
                </a:cubicBezTo>
                <a:cubicBezTo>
                  <a:pt x="35810" y="5160194"/>
                  <a:pt x="-17642" y="5401748"/>
                  <a:pt x="13716" y="5590381"/>
                </a:cubicBezTo>
                <a:cubicBezTo>
                  <a:pt x="8599" y="5590092"/>
                  <a:pt x="6708" y="5590668"/>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3716" h="5590381" stroke="0" extrusionOk="0">
                <a:moveTo>
                  <a:pt x="0" y="0"/>
                </a:moveTo>
                <a:cubicBezTo>
                  <a:pt x="4626" y="620"/>
                  <a:pt x="7856" y="-428"/>
                  <a:pt x="13716" y="0"/>
                </a:cubicBezTo>
                <a:cubicBezTo>
                  <a:pt x="36569" y="165299"/>
                  <a:pt x="-959" y="427555"/>
                  <a:pt x="13716" y="698798"/>
                </a:cubicBezTo>
                <a:cubicBezTo>
                  <a:pt x="28391" y="970041"/>
                  <a:pt x="15108" y="1226199"/>
                  <a:pt x="13716" y="1397595"/>
                </a:cubicBezTo>
                <a:cubicBezTo>
                  <a:pt x="12324" y="1568991"/>
                  <a:pt x="34226" y="1794517"/>
                  <a:pt x="13716" y="2152297"/>
                </a:cubicBezTo>
                <a:cubicBezTo>
                  <a:pt x="-6794" y="2510077"/>
                  <a:pt x="36274" y="2594424"/>
                  <a:pt x="13716" y="2739287"/>
                </a:cubicBezTo>
                <a:cubicBezTo>
                  <a:pt x="-8842" y="2884150"/>
                  <a:pt x="22545" y="3129706"/>
                  <a:pt x="13716" y="3493988"/>
                </a:cubicBezTo>
                <a:cubicBezTo>
                  <a:pt x="4887" y="3858270"/>
                  <a:pt x="49629" y="4041447"/>
                  <a:pt x="13716" y="4304593"/>
                </a:cubicBezTo>
                <a:cubicBezTo>
                  <a:pt x="-22197" y="4567740"/>
                  <a:pt x="45055" y="5149125"/>
                  <a:pt x="13716" y="5590381"/>
                </a:cubicBezTo>
                <a:cubicBezTo>
                  <a:pt x="9649" y="5590058"/>
                  <a:pt x="6483" y="5589928"/>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graph of a number of different colored bars&#10;&#10;AI-generated content may be incorrect.">
            <a:extLst>
              <a:ext uri="{FF2B5EF4-FFF2-40B4-BE49-F238E27FC236}">
                <a16:creationId xmlns:a16="http://schemas.microsoft.com/office/drawing/2014/main" id="{2FED43E9-DCC0-E1E9-2BC3-EEE36A9FD0CB}"/>
              </a:ext>
            </a:extLst>
          </p:cNvPr>
          <p:cNvPicPr>
            <a:picLocks noChangeAspect="1"/>
          </p:cNvPicPr>
          <p:nvPr/>
        </p:nvPicPr>
        <p:blipFill>
          <a:blip r:embed="rId2"/>
          <a:stretch>
            <a:fillRect/>
          </a:stretch>
        </p:blipFill>
        <p:spPr>
          <a:xfrm>
            <a:off x="3348579" y="109268"/>
            <a:ext cx="5693440" cy="3558400"/>
          </a:xfrm>
          <a:prstGeom prst="rect">
            <a:avLst/>
          </a:prstGeom>
        </p:spPr>
      </p:pic>
      <p:graphicFrame>
        <p:nvGraphicFramePr>
          <p:cNvPr id="15" name="Table 14">
            <a:extLst>
              <a:ext uri="{FF2B5EF4-FFF2-40B4-BE49-F238E27FC236}">
                <a16:creationId xmlns:a16="http://schemas.microsoft.com/office/drawing/2014/main" id="{6D091392-EA5F-2903-448E-4E8C0E49A992}"/>
              </a:ext>
            </a:extLst>
          </p:cNvPr>
          <p:cNvGraphicFramePr>
            <a:graphicFrameLocks noGrp="1"/>
          </p:cNvGraphicFramePr>
          <p:nvPr>
            <p:extLst>
              <p:ext uri="{D42A27DB-BD31-4B8C-83A1-F6EECF244321}">
                <p14:modId xmlns:p14="http://schemas.microsoft.com/office/powerpoint/2010/main" val="3370124945"/>
              </p:ext>
            </p:extLst>
          </p:nvPr>
        </p:nvGraphicFramePr>
        <p:xfrm>
          <a:off x="3556723" y="3796736"/>
          <a:ext cx="5277152" cy="2765987"/>
        </p:xfrm>
        <a:graphic>
          <a:graphicData uri="http://schemas.openxmlformats.org/drawingml/2006/table">
            <a:tbl>
              <a:tblPr firstRow="1" bandRow="1">
                <a:noFill/>
              </a:tblPr>
              <a:tblGrid>
                <a:gridCol w="1383337">
                  <a:extLst>
                    <a:ext uri="{9D8B030D-6E8A-4147-A177-3AD203B41FA5}">
                      <a16:colId xmlns:a16="http://schemas.microsoft.com/office/drawing/2014/main" val="1560205859"/>
                    </a:ext>
                  </a:extLst>
                </a:gridCol>
                <a:gridCol w="1795014">
                  <a:extLst>
                    <a:ext uri="{9D8B030D-6E8A-4147-A177-3AD203B41FA5}">
                      <a16:colId xmlns:a16="http://schemas.microsoft.com/office/drawing/2014/main" val="4272604306"/>
                    </a:ext>
                  </a:extLst>
                </a:gridCol>
                <a:gridCol w="2098801">
                  <a:extLst>
                    <a:ext uri="{9D8B030D-6E8A-4147-A177-3AD203B41FA5}">
                      <a16:colId xmlns:a16="http://schemas.microsoft.com/office/drawing/2014/main" val="2370204101"/>
                    </a:ext>
                  </a:extLst>
                </a:gridCol>
              </a:tblGrid>
              <a:tr h="988208">
                <a:tc>
                  <a:txBody>
                    <a:bodyPr/>
                    <a:lstStyle/>
                    <a:p>
                      <a:pPr algn="r" fontAlgn="ctr">
                        <a:buNone/>
                      </a:pPr>
                      <a:r>
                        <a:rPr lang="en-GB" sz="1800" b="1" cap="all" spc="60" dirty="0">
                          <a:solidFill>
                            <a:schemeClr val="tx1"/>
                          </a:solidFill>
                          <a:effectLst/>
                        </a:rPr>
                        <a:t>Segment</a:t>
                      </a:r>
                    </a:p>
                  </a:txBody>
                  <a:tcPr marL="172318" marR="172318" marT="172318" marB="172318" anchor="b">
                    <a:lnL w="12700" cmpd="sng">
                      <a:noFill/>
                    </a:lnL>
                    <a:lnR w="12700" cmpd="sng">
                      <a:noFill/>
                    </a:lnR>
                    <a:lnT w="12700" cmpd="sng">
                      <a:noFill/>
                    </a:lnT>
                    <a:lnB w="38100" cmpd="sng">
                      <a:noFill/>
                    </a:lnB>
                    <a:noFill/>
                  </a:tcPr>
                </a:tc>
                <a:tc>
                  <a:txBody>
                    <a:bodyPr/>
                    <a:lstStyle/>
                    <a:p>
                      <a:pPr marL="0" marR="0" lvl="0" indent="0" algn="r" defTabSz="457200" rtl="0" eaLnBrk="1" fontAlgn="ctr" latinLnBrk="0" hangingPunct="1">
                        <a:lnSpc>
                          <a:spcPct val="100000"/>
                        </a:lnSpc>
                        <a:spcBef>
                          <a:spcPts val="0"/>
                        </a:spcBef>
                        <a:spcAft>
                          <a:spcPts val="0"/>
                        </a:spcAft>
                        <a:buClrTx/>
                        <a:buSzTx/>
                        <a:buFontTx/>
                        <a:buNone/>
                        <a:tabLst/>
                        <a:defRPr/>
                      </a:pPr>
                      <a:r>
                        <a:rPr lang="en-GB" sz="1800" b="1" cap="all" spc="60" dirty="0">
                          <a:solidFill>
                            <a:schemeClr val="tx1"/>
                          </a:solidFill>
                          <a:effectLst/>
                        </a:rPr>
                        <a:t>Total Spending</a:t>
                      </a:r>
                    </a:p>
                    <a:p>
                      <a:pPr algn="r" fontAlgn="ctr">
                        <a:buNone/>
                      </a:pPr>
                      <a:endParaRPr lang="en-GB" sz="1800" b="1" cap="all" spc="60" dirty="0">
                        <a:solidFill>
                          <a:schemeClr val="tx1"/>
                        </a:solidFill>
                        <a:effectLst/>
                      </a:endParaRPr>
                    </a:p>
                  </a:txBody>
                  <a:tcPr marL="172318" marR="172318" marT="172318" marB="172318" anchor="b">
                    <a:lnL w="12700" cmpd="sng">
                      <a:noFill/>
                    </a:lnL>
                    <a:lnR w="12700" cmpd="sng">
                      <a:noFill/>
                    </a:lnR>
                    <a:lnT w="12700" cmpd="sng">
                      <a:noFill/>
                    </a:lnT>
                    <a:lnB w="38100" cmpd="sng">
                      <a:noFill/>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800" b="1" cap="all" spc="60" dirty="0">
                          <a:solidFill>
                            <a:schemeClr val="tx1"/>
                          </a:solidFill>
                          <a:effectLst/>
                        </a:rPr>
                        <a:t>Spending Proportion (%)</a:t>
                      </a:r>
                    </a:p>
                    <a:p>
                      <a:endParaRPr lang="en-GB" sz="1800" b="1" cap="all" spc="60" dirty="0">
                        <a:solidFill>
                          <a:schemeClr val="tx1"/>
                        </a:solidFill>
                      </a:endParaRPr>
                    </a:p>
                  </a:txBody>
                  <a:tcPr marL="172318" marR="172318" marT="172318" marB="172318" anchor="b">
                    <a:lnL w="12700" cmpd="sng">
                      <a:noFill/>
                    </a:lnL>
                    <a:lnR w="12700" cmpd="sng">
                      <a:noFill/>
                    </a:lnR>
                    <a:lnT w="12700" cmpd="sng">
                      <a:noFill/>
                    </a:lnT>
                    <a:lnB w="38100" cmpd="sng">
                      <a:noFill/>
                    </a:lnB>
                    <a:noFill/>
                  </a:tcPr>
                </a:tc>
                <a:extLst>
                  <a:ext uri="{0D108BD9-81ED-4DB2-BD59-A6C34878D82A}">
                    <a16:rowId xmlns:a16="http://schemas.microsoft.com/office/drawing/2014/main" val="1463881297"/>
                  </a:ext>
                </a:extLst>
              </a:tr>
              <a:tr h="376057">
                <a:tc>
                  <a:txBody>
                    <a:bodyPr/>
                    <a:lstStyle/>
                    <a:p>
                      <a:pPr algn="r" fontAlgn="ctr">
                        <a:buNone/>
                      </a:pPr>
                      <a:r>
                        <a:rPr lang="en-GB" sz="1800" cap="none" spc="0" dirty="0">
                          <a:solidFill>
                            <a:schemeClr val="tx1"/>
                          </a:solidFill>
                          <a:effectLst/>
                        </a:rPr>
                        <a:t>Low-Value</a:t>
                      </a:r>
                    </a:p>
                  </a:txBody>
                  <a:tcPr marL="172318" marR="172318" marT="86159" marB="172318" anchor="ctr">
                    <a:lnL w="12700" cmpd="sng">
                      <a:noFill/>
                      <a:prstDash val="solid"/>
                    </a:lnL>
                    <a:lnR w="12700" cmpd="sng">
                      <a:noFill/>
                      <a:prstDash val="solid"/>
                    </a:lnR>
                    <a:lnT w="38100" cmpd="sng">
                      <a:noFill/>
                    </a:lnT>
                    <a:lnB w="12700" cmpd="sng">
                      <a:noFill/>
                      <a:prstDash val="solid"/>
                    </a:lnB>
                    <a:noFill/>
                  </a:tcPr>
                </a:tc>
                <a:tc>
                  <a:txBody>
                    <a:bodyPr/>
                    <a:lstStyle/>
                    <a:p>
                      <a:pPr algn="r" fontAlgn="ctr">
                        <a:buNone/>
                      </a:pPr>
                      <a:r>
                        <a:rPr lang="en-GB" sz="1800" cap="none" spc="0" dirty="0">
                          <a:solidFill>
                            <a:schemeClr val="tx1"/>
                          </a:solidFill>
                          <a:effectLst/>
                        </a:rPr>
                        <a:t>892.0</a:t>
                      </a:r>
                    </a:p>
                  </a:txBody>
                  <a:tcPr marL="172318" marR="172318" marT="86159" marB="172318" anchor="ctr">
                    <a:lnL w="12700" cmpd="sng">
                      <a:noFill/>
                      <a:prstDash val="solid"/>
                    </a:lnL>
                    <a:lnR w="12700" cmpd="sng">
                      <a:noFill/>
                      <a:prstDash val="solid"/>
                    </a:lnR>
                    <a:lnT w="38100" cmpd="sng">
                      <a:noFill/>
                    </a:lnT>
                    <a:lnB w="12700" cmpd="sng">
                      <a:noFill/>
                      <a:prstDash val="solid"/>
                    </a:lnB>
                    <a:noFill/>
                  </a:tcPr>
                </a:tc>
                <a:tc>
                  <a:txBody>
                    <a:bodyPr/>
                    <a:lstStyle/>
                    <a:p>
                      <a:pPr algn="r" fontAlgn="ctr">
                        <a:buNone/>
                      </a:pPr>
                      <a:r>
                        <a:rPr lang="en-GB" sz="1800" cap="none" spc="0" dirty="0">
                          <a:solidFill>
                            <a:schemeClr val="tx1"/>
                          </a:solidFill>
                          <a:effectLst/>
                        </a:rPr>
                        <a:t>9.97</a:t>
                      </a:r>
                    </a:p>
                  </a:txBody>
                  <a:tcPr marL="172318" marR="172318" marT="86159" marB="172318"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2535289388"/>
                  </a:ext>
                </a:extLst>
              </a:tr>
              <a:tr h="376057">
                <a:tc>
                  <a:txBody>
                    <a:bodyPr/>
                    <a:lstStyle/>
                    <a:p>
                      <a:pPr algn="r" fontAlgn="ctr">
                        <a:buNone/>
                      </a:pPr>
                      <a:r>
                        <a:rPr lang="en-GB" sz="1800" cap="none" spc="0">
                          <a:solidFill>
                            <a:schemeClr val="tx1"/>
                          </a:solidFill>
                          <a:effectLst/>
                        </a:rPr>
                        <a:t>Mid-Value</a:t>
                      </a:r>
                    </a:p>
                  </a:txBody>
                  <a:tcPr marL="172318" marR="172318" marT="86159" marB="17231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r" fontAlgn="ctr">
                        <a:buNone/>
                      </a:pPr>
                      <a:r>
                        <a:rPr lang="en-GB" sz="1800" cap="none" spc="0">
                          <a:solidFill>
                            <a:schemeClr val="tx1"/>
                          </a:solidFill>
                          <a:effectLst/>
                        </a:rPr>
                        <a:t>3952.0</a:t>
                      </a:r>
                    </a:p>
                  </a:txBody>
                  <a:tcPr marL="172318" marR="172318" marT="86159" marB="17231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r" fontAlgn="ctr">
                        <a:buNone/>
                      </a:pPr>
                      <a:r>
                        <a:rPr lang="en-GB" sz="1800" cap="none" spc="0">
                          <a:solidFill>
                            <a:schemeClr val="tx1"/>
                          </a:solidFill>
                          <a:effectLst/>
                        </a:rPr>
                        <a:t>44.16</a:t>
                      </a:r>
                    </a:p>
                  </a:txBody>
                  <a:tcPr marL="172318" marR="172318" marT="86159" marB="17231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830114073"/>
                  </a:ext>
                </a:extLst>
              </a:tr>
              <a:tr h="376057">
                <a:tc>
                  <a:txBody>
                    <a:bodyPr/>
                    <a:lstStyle/>
                    <a:p>
                      <a:pPr algn="r" fontAlgn="ctr">
                        <a:buNone/>
                      </a:pPr>
                      <a:r>
                        <a:rPr lang="en-GB" sz="1800" cap="none" spc="0" dirty="0">
                          <a:solidFill>
                            <a:schemeClr val="tx1"/>
                          </a:solidFill>
                          <a:effectLst/>
                        </a:rPr>
                        <a:t>High-Value</a:t>
                      </a:r>
                    </a:p>
                  </a:txBody>
                  <a:tcPr marL="172318" marR="172318" marT="86159" marB="172318"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r" fontAlgn="ctr">
                        <a:buNone/>
                      </a:pPr>
                      <a:r>
                        <a:rPr lang="en-GB" sz="1800" cap="none" spc="0" dirty="0">
                          <a:solidFill>
                            <a:schemeClr val="tx1"/>
                          </a:solidFill>
                          <a:effectLst/>
                        </a:rPr>
                        <a:t>4106.0</a:t>
                      </a:r>
                    </a:p>
                  </a:txBody>
                  <a:tcPr marL="172318" marR="172318" marT="86159" marB="172318"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r" fontAlgn="ctr">
                        <a:buNone/>
                      </a:pPr>
                      <a:r>
                        <a:rPr lang="en-GB" sz="1800" cap="none" spc="0" dirty="0">
                          <a:solidFill>
                            <a:schemeClr val="tx1"/>
                          </a:solidFill>
                          <a:effectLst/>
                        </a:rPr>
                        <a:t>45.88</a:t>
                      </a:r>
                    </a:p>
                  </a:txBody>
                  <a:tcPr marL="172318" marR="172318" marT="86159" marB="172318"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38811666"/>
                  </a:ext>
                </a:extLst>
              </a:tr>
            </a:tbl>
          </a:graphicData>
        </a:graphic>
      </p:graphicFrame>
      <p:sp>
        <p:nvSpPr>
          <p:cNvPr id="7" name="Date Placeholder 6">
            <a:extLst>
              <a:ext uri="{FF2B5EF4-FFF2-40B4-BE49-F238E27FC236}">
                <a16:creationId xmlns:a16="http://schemas.microsoft.com/office/drawing/2014/main" id="{28D5EB19-E100-D37A-47C4-5A6650B8E1C5}"/>
              </a:ext>
            </a:extLst>
          </p:cNvPr>
          <p:cNvSpPr>
            <a:spLocks noGrp="1"/>
          </p:cNvSpPr>
          <p:nvPr>
            <p:ph type="dt" sz="half" idx="10"/>
          </p:nvPr>
        </p:nvSpPr>
        <p:spPr/>
        <p:txBody>
          <a:bodyPr/>
          <a:lstStyle/>
          <a:p>
            <a:fld id="{6C35BEAD-6A4B-498E-9480-F586B2347F06}" type="datetime1">
              <a:rPr lang="en-GB" smtClean="0"/>
              <a:t>18/07/2025</a:t>
            </a:fld>
            <a:endParaRPr lang="en-US"/>
          </a:p>
        </p:txBody>
      </p:sp>
      <p:sp>
        <p:nvSpPr>
          <p:cNvPr id="8" name="Slide Number Placeholder 7">
            <a:extLst>
              <a:ext uri="{FF2B5EF4-FFF2-40B4-BE49-F238E27FC236}">
                <a16:creationId xmlns:a16="http://schemas.microsoft.com/office/drawing/2014/main" id="{473219EC-5D13-6C21-E3D4-6D6C182C6FC0}"/>
              </a:ext>
            </a:extLst>
          </p:cNvPr>
          <p:cNvSpPr>
            <a:spLocks noGrp="1"/>
          </p:cNvSpPr>
          <p:nvPr>
            <p:ph type="sldNum" sz="quarter" idx="12"/>
          </p:nvPr>
        </p:nvSpPr>
        <p:spPr/>
        <p:txBody>
          <a:bodyPr/>
          <a:lstStyle/>
          <a:p>
            <a:fld id="{C1FF6DA9-008F-8B48-92A6-B652298478BF}" type="slidenum">
              <a:rPr lang="en-US" smtClean="0"/>
              <a:t>10</a:t>
            </a:fld>
            <a:endParaRPr lang="en-US"/>
          </a:p>
        </p:txBody>
      </p:sp>
      <p:sp>
        <p:nvSpPr>
          <p:cNvPr id="12" name="Footer Placeholder 11">
            <a:extLst>
              <a:ext uri="{FF2B5EF4-FFF2-40B4-BE49-F238E27FC236}">
                <a16:creationId xmlns:a16="http://schemas.microsoft.com/office/drawing/2014/main" id="{E0468935-6330-51D0-16FC-626066E981D7}"/>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4243613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451381"/>
            <a:ext cx="7884414" cy="4066540"/>
          </a:xfrm>
        </p:spPr>
        <p:txBody>
          <a:bodyPr vert="horz" lIns="91440" tIns="45720" rIns="91440" bIns="45720" rtlCol="0" anchor="b">
            <a:normAutofit/>
          </a:bodyPr>
          <a:lstStyle/>
          <a:p>
            <a:pPr algn="l" defTabSz="914400">
              <a:lnSpc>
                <a:spcPct val="90000"/>
              </a:lnSpc>
            </a:pPr>
            <a:r>
              <a:rPr lang="en-US" sz="5700" b="1" kern="1200" dirty="0">
                <a:solidFill>
                  <a:schemeClr val="tx1"/>
                </a:solidFill>
                <a:latin typeface="+mj-lt"/>
                <a:ea typeface="+mj-ea"/>
                <a:cs typeface="+mj-cs"/>
              </a:rPr>
              <a:t>Are Customers Returning to </a:t>
            </a:r>
            <a:r>
              <a:rPr lang="en-US" sz="5700" b="1" kern="1200" dirty="0" err="1">
                <a:solidFill>
                  <a:schemeClr val="tx1"/>
                </a:solidFill>
                <a:latin typeface="+mj-lt"/>
                <a:ea typeface="+mj-ea"/>
                <a:cs typeface="+mj-cs"/>
              </a:rPr>
              <a:t>FoodWheel</a:t>
            </a:r>
            <a:r>
              <a:rPr lang="en-US" sz="5700" b="1" kern="1200" dirty="0">
                <a:solidFill>
                  <a:schemeClr val="tx1"/>
                </a:solidFill>
                <a:latin typeface="+mj-lt"/>
                <a:ea typeface="+mj-ea"/>
                <a:cs typeface="+mj-cs"/>
              </a:rPr>
              <a:t>?</a:t>
            </a:r>
          </a:p>
        </p:txBody>
      </p:sp>
      <p:sp>
        <p:nvSpPr>
          <p:cNvPr id="2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184B08E2-D614-B87D-C31A-FE6C37CA91AA}"/>
              </a:ext>
            </a:extLst>
          </p:cNvPr>
          <p:cNvSpPr>
            <a:spLocks noGrp="1"/>
          </p:cNvSpPr>
          <p:nvPr>
            <p:ph type="dt" sz="half" idx="10"/>
          </p:nvPr>
        </p:nvSpPr>
        <p:spPr/>
        <p:txBody>
          <a:bodyPr/>
          <a:lstStyle/>
          <a:p>
            <a:fld id="{5FA0E01D-8696-4482-8806-5D5B0C1A5C17}" type="datetime1">
              <a:rPr lang="en-GB" smtClean="0"/>
              <a:t>18/07/2025</a:t>
            </a:fld>
            <a:endParaRPr lang="en-US"/>
          </a:p>
        </p:txBody>
      </p:sp>
      <p:sp>
        <p:nvSpPr>
          <p:cNvPr id="8" name="Slide Number Placeholder 7">
            <a:extLst>
              <a:ext uri="{FF2B5EF4-FFF2-40B4-BE49-F238E27FC236}">
                <a16:creationId xmlns:a16="http://schemas.microsoft.com/office/drawing/2014/main" id="{E462919F-956D-BA2D-92A1-36B84778A0E2}"/>
              </a:ext>
            </a:extLst>
          </p:cNvPr>
          <p:cNvSpPr>
            <a:spLocks noGrp="1"/>
          </p:cNvSpPr>
          <p:nvPr>
            <p:ph type="sldNum" sz="quarter" idx="12"/>
          </p:nvPr>
        </p:nvSpPr>
        <p:spPr/>
        <p:txBody>
          <a:bodyPr/>
          <a:lstStyle/>
          <a:p>
            <a:fld id="{C1FF6DA9-008F-8B48-92A6-B652298478BF}" type="slidenum">
              <a:rPr lang="en-US" smtClean="0"/>
              <a:t>11</a:t>
            </a:fld>
            <a:endParaRPr lang="en-US"/>
          </a:p>
        </p:txBody>
      </p:sp>
      <p:sp>
        <p:nvSpPr>
          <p:cNvPr id="10" name="Footer Placeholder 9">
            <a:extLst>
              <a:ext uri="{FF2B5EF4-FFF2-40B4-BE49-F238E27FC236}">
                <a16:creationId xmlns:a16="http://schemas.microsoft.com/office/drawing/2014/main" id="{944D5E7F-B710-CAF7-5F42-D6C3B29C624D}"/>
              </a:ext>
            </a:extLst>
          </p:cNvPr>
          <p:cNvSpPr>
            <a:spLocks noGrp="1"/>
          </p:cNvSpPr>
          <p:nvPr>
            <p:ph type="ftr" sz="quarter" idx="11"/>
          </p:nvPr>
        </p:nvSpPr>
        <p:spPr/>
        <p:txBody>
          <a:bodyPr/>
          <a:lstStyle/>
          <a:p>
            <a:r>
              <a:rPr lang="en-US"/>
              <a:t>Oladamola Sunday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circle with a triangle in the middle&#10;&#10;AI-generated content may be incorrect.">
            <a:extLst>
              <a:ext uri="{FF2B5EF4-FFF2-40B4-BE49-F238E27FC236}">
                <a16:creationId xmlns:a16="http://schemas.microsoft.com/office/drawing/2014/main" id="{E7E1D783-C204-185F-5CE4-E4FE9CD2F8E4}"/>
              </a:ext>
            </a:extLst>
          </p:cNvPr>
          <p:cNvPicPr>
            <a:picLocks noChangeAspect="1"/>
          </p:cNvPicPr>
          <p:nvPr/>
        </p:nvPicPr>
        <p:blipFill>
          <a:blip r:embed="rId2"/>
          <a:stretch>
            <a:fillRect/>
          </a:stretch>
        </p:blipFill>
        <p:spPr>
          <a:xfrm>
            <a:off x="0" y="3794185"/>
            <a:ext cx="9144000" cy="3048000"/>
          </a:xfrm>
          <a:prstGeom prst="rect">
            <a:avLst/>
          </a:prstGeom>
        </p:spPr>
      </p:pic>
      <p:pic>
        <p:nvPicPr>
          <p:cNvPr id="6" name="Picture 5" descr="A graph of a bar chart&#10;&#10;AI-generated content may be incorrect.">
            <a:extLst>
              <a:ext uri="{FF2B5EF4-FFF2-40B4-BE49-F238E27FC236}">
                <a16:creationId xmlns:a16="http://schemas.microsoft.com/office/drawing/2014/main" id="{E8C2612A-B8C9-A429-6498-0D37B0B9E85E}"/>
              </a:ext>
            </a:extLst>
          </p:cNvPr>
          <p:cNvPicPr>
            <a:picLocks noChangeAspect="1"/>
          </p:cNvPicPr>
          <p:nvPr/>
        </p:nvPicPr>
        <p:blipFill>
          <a:blip r:embed="rId3"/>
          <a:stretch>
            <a:fillRect/>
          </a:stretch>
        </p:blipFill>
        <p:spPr>
          <a:xfrm>
            <a:off x="1624641" y="173967"/>
            <a:ext cx="5894717" cy="3536830"/>
          </a:xfrm>
          <a:prstGeom prst="rect">
            <a:avLst/>
          </a:prstGeom>
        </p:spPr>
      </p:pic>
      <p:sp>
        <p:nvSpPr>
          <p:cNvPr id="8" name="Date Placeholder 7">
            <a:extLst>
              <a:ext uri="{FF2B5EF4-FFF2-40B4-BE49-F238E27FC236}">
                <a16:creationId xmlns:a16="http://schemas.microsoft.com/office/drawing/2014/main" id="{1A8F7B47-EC34-4AFA-E3EB-A493CE65D55A}"/>
              </a:ext>
            </a:extLst>
          </p:cNvPr>
          <p:cNvSpPr>
            <a:spLocks noGrp="1"/>
          </p:cNvSpPr>
          <p:nvPr>
            <p:ph type="dt" sz="half" idx="10"/>
          </p:nvPr>
        </p:nvSpPr>
        <p:spPr/>
        <p:txBody>
          <a:bodyPr/>
          <a:lstStyle/>
          <a:p>
            <a:fld id="{01C4BB01-1B63-44A0-8C5E-BC380DB79012}" type="datetime1">
              <a:rPr lang="en-GB" smtClean="0"/>
              <a:t>18/07/2025</a:t>
            </a:fld>
            <a:endParaRPr lang="en-US"/>
          </a:p>
        </p:txBody>
      </p:sp>
      <p:sp>
        <p:nvSpPr>
          <p:cNvPr id="9" name="Slide Number Placeholder 8">
            <a:extLst>
              <a:ext uri="{FF2B5EF4-FFF2-40B4-BE49-F238E27FC236}">
                <a16:creationId xmlns:a16="http://schemas.microsoft.com/office/drawing/2014/main" id="{F54F4BB3-2D1D-D608-DDE5-6C1B9E41D4A9}"/>
              </a:ext>
            </a:extLst>
          </p:cNvPr>
          <p:cNvSpPr>
            <a:spLocks noGrp="1"/>
          </p:cNvSpPr>
          <p:nvPr>
            <p:ph type="sldNum" sz="quarter" idx="12"/>
          </p:nvPr>
        </p:nvSpPr>
        <p:spPr/>
        <p:txBody>
          <a:bodyPr/>
          <a:lstStyle/>
          <a:p>
            <a:fld id="{C1FF6DA9-008F-8B48-92A6-B652298478BF}" type="slidenum">
              <a:rPr lang="en-US" smtClean="0"/>
              <a:t>12</a:t>
            </a:fld>
            <a:endParaRPr lang="en-US"/>
          </a:p>
        </p:txBody>
      </p:sp>
      <p:sp>
        <p:nvSpPr>
          <p:cNvPr id="11" name="Footer Placeholder 10">
            <a:extLst>
              <a:ext uri="{FF2B5EF4-FFF2-40B4-BE49-F238E27FC236}">
                <a16:creationId xmlns:a16="http://schemas.microsoft.com/office/drawing/2014/main" id="{4F96DE2E-91F2-95DB-DD48-204FE4DB2E7A}"/>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2654178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7" name="Rectangle 56">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365125"/>
            <a:ext cx="8375585"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785059" y="586822"/>
            <a:ext cx="2670189" cy="1645920"/>
          </a:xfrm>
        </p:spPr>
        <p:txBody>
          <a:bodyPr>
            <a:normAutofit/>
          </a:bodyPr>
          <a:lstStyle/>
          <a:p>
            <a:r>
              <a:rPr lang="en-GB" sz="2800" b="1" dirty="0"/>
              <a:t>When Are Customers Ordering?</a:t>
            </a:r>
          </a:p>
        </p:txBody>
      </p:sp>
      <p:sp>
        <p:nvSpPr>
          <p:cNvPr id="59" name="Rectangle 58">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105773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61" name="Rectangle 60">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99776" y="1402924"/>
            <a:ext cx="14630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4013373" y="586822"/>
            <a:ext cx="4501977" cy="1645920"/>
          </a:xfrm>
        </p:spPr>
        <p:txBody>
          <a:bodyPr anchor="ctr">
            <a:normAutofit/>
          </a:bodyPr>
          <a:lstStyle/>
          <a:p>
            <a:r>
              <a:rPr lang="en-GB" sz="1800" dirty="0"/>
              <a:t>Peak: Friday (87 orders), Saturday (82)</a:t>
            </a:r>
          </a:p>
          <a:p>
            <a:r>
              <a:rPr lang="en-GB" sz="1800" dirty="0"/>
              <a:t>Lowest: Wednesday (56), Tuesday (61)</a:t>
            </a:r>
          </a:p>
          <a:p>
            <a:r>
              <a:rPr lang="en-GB" sz="1800" dirty="0"/>
              <a:t>Avg. order amount: ~$17–$18.69, highest Tuesday ($18.69)</a:t>
            </a:r>
          </a:p>
        </p:txBody>
      </p:sp>
      <p:pic>
        <p:nvPicPr>
          <p:cNvPr id="6" name="Picture 5" descr="A graph with lines and numbers&#10;&#10;AI-generated content may be incorrect.">
            <a:extLst>
              <a:ext uri="{FF2B5EF4-FFF2-40B4-BE49-F238E27FC236}">
                <a16:creationId xmlns:a16="http://schemas.microsoft.com/office/drawing/2014/main" id="{30B2EE8B-976B-D119-C95C-3BA7EA466F44}"/>
              </a:ext>
            </a:extLst>
          </p:cNvPr>
          <p:cNvPicPr>
            <a:picLocks noChangeAspect="1"/>
          </p:cNvPicPr>
          <p:nvPr/>
        </p:nvPicPr>
        <p:blipFill>
          <a:blip r:embed="rId2"/>
          <a:stretch>
            <a:fillRect/>
          </a:stretch>
        </p:blipFill>
        <p:spPr>
          <a:xfrm>
            <a:off x="1296895" y="2454442"/>
            <a:ext cx="6811365" cy="4086819"/>
          </a:xfrm>
          <a:prstGeom prst="rect">
            <a:avLst/>
          </a:prstGeom>
        </p:spPr>
      </p:pic>
      <p:sp>
        <p:nvSpPr>
          <p:cNvPr id="9" name="Date Placeholder 8">
            <a:extLst>
              <a:ext uri="{FF2B5EF4-FFF2-40B4-BE49-F238E27FC236}">
                <a16:creationId xmlns:a16="http://schemas.microsoft.com/office/drawing/2014/main" id="{6478BD2E-212A-C6C2-5D43-0FDA38A09589}"/>
              </a:ext>
            </a:extLst>
          </p:cNvPr>
          <p:cNvSpPr>
            <a:spLocks noGrp="1"/>
          </p:cNvSpPr>
          <p:nvPr>
            <p:ph type="dt" sz="half" idx="10"/>
          </p:nvPr>
        </p:nvSpPr>
        <p:spPr/>
        <p:txBody>
          <a:bodyPr/>
          <a:lstStyle/>
          <a:p>
            <a:fld id="{FA9ED3F7-6A5D-4EA8-9982-C0E7BD631DF0}" type="datetime1">
              <a:rPr lang="en-GB" smtClean="0"/>
              <a:t>18/07/2025</a:t>
            </a:fld>
            <a:endParaRPr lang="en-US"/>
          </a:p>
        </p:txBody>
      </p:sp>
      <p:sp>
        <p:nvSpPr>
          <p:cNvPr id="10" name="Slide Number Placeholder 9">
            <a:extLst>
              <a:ext uri="{FF2B5EF4-FFF2-40B4-BE49-F238E27FC236}">
                <a16:creationId xmlns:a16="http://schemas.microsoft.com/office/drawing/2014/main" id="{C722E922-2948-B73E-4048-7D1243B90867}"/>
              </a:ext>
            </a:extLst>
          </p:cNvPr>
          <p:cNvSpPr>
            <a:spLocks noGrp="1"/>
          </p:cNvSpPr>
          <p:nvPr>
            <p:ph type="sldNum" sz="quarter" idx="12"/>
          </p:nvPr>
        </p:nvSpPr>
        <p:spPr/>
        <p:txBody>
          <a:bodyPr/>
          <a:lstStyle/>
          <a:p>
            <a:fld id="{C1FF6DA9-008F-8B48-92A6-B652298478BF}" type="slidenum">
              <a:rPr lang="en-US" smtClean="0"/>
              <a:t>13</a:t>
            </a:fld>
            <a:endParaRPr lang="en-US"/>
          </a:p>
        </p:txBody>
      </p:sp>
      <p:sp>
        <p:nvSpPr>
          <p:cNvPr id="12" name="Footer Placeholder 11">
            <a:extLst>
              <a:ext uri="{FF2B5EF4-FFF2-40B4-BE49-F238E27FC236}">
                <a16:creationId xmlns:a16="http://schemas.microsoft.com/office/drawing/2014/main" id="{C868FC35-EE70-78D3-E8C3-85890F43CFE2}"/>
              </a:ext>
            </a:extLst>
          </p:cNvPr>
          <p:cNvSpPr>
            <a:spLocks noGrp="1"/>
          </p:cNvSpPr>
          <p:nvPr>
            <p:ph type="ftr" sz="quarter" idx="11"/>
          </p:nvPr>
        </p:nvSpPr>
        <p:spPr/>
        <p:txBody>
          <a:bodyPr/>
          <a:lstStyle/>
          <a:p>
            <a:r>
              <a:rPr lang="en-US"/>
              <a:t>Oladamola Sunday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502920"/>
            <a:ext cx="2564892" cy="1463040"/>
          </a:xfrm>
        </p:spPr>
        <p:txBody>
          <a:bodyPr anchor="ctr">
            <a:normAutofit/>
          </a:bodyPr>
          <a:lstStyle/>
          <a:p>
            <a:pPr>
              <a:lnSpc>
                <a:spcPct val="90000"/>
              </a:lnSpc>
            </a:pPr>
            <a:r>
              <a:rPr lang="en-GB" sz="2300" b="1" dirty="0"/>
              <a:t>Unlocking Customer Insights with RFM Analysis</a:t>
            </a:r>
          </a:p>
        </p:txBody>
      </p:sp>
      <p:sp>
        <p:nvSpPr>
          <p:cNvPr id="16"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80309" y="1227582"/>
            <a:ext cx="1554480" cy="13716"/>
          </a:xfrm>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3820" y="4959"/>
                  <a:pt x="1554594" y="10798"/>
                  <a:pt x="1554480" y="13716"/>
                </a:cubicBezTo>
                <a:cubicBezTo>
                  <a:pt x="1338847" y="1555"/>
                  <a:pt x="1215066" y="33279"/>
                  <a:pt x="1067410" y="13716"/>
                </a:cubicBezTo>
                <a:cubicBezTo>
                  <a:pt x="919754" y="-5847"/>
                  <a:pt x="800465" y="-1492"/>
                  <a:pt x="549250" y="13716"/>
                </a:cubicBezTo>
                <a:cubicBezTo>
                  <a:pt x="298035" y="28924"/>
                  <a:pt x="158868" y="18197"/>
                  <a:pt x="0" y="13716"/>
                </a:cubicBezTo>
                <a:cubicBezTo>
                  <a:pt x="488" y="8630"/>
                  <a:pt x="480" y="6612"/>
                  <a:pt x="0" y="0"/>
                </a:cubicBezTo>
                <a:close/>
              </a:path>
              <a:path w="1554480" h="13716"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232" y="4157"/>
                  <a:pt x="1554673" y="7559"/>
                  <a:pt x="1554480" y="13716"/>
                </a:cubicBezTo>
                <a:cubicBezTo>
                  <a:pt x="1336087" y="7600"/>
                  <a:pt x="1310024" y="15187"/>
                  <a:pt x="1067410" y="13716"/>
                </a:cubicBezTo>
                <a:cubicBezTo>
                  <a:pt x="824796" y="12246"/>
                  <a:pt x="787902" y="30075"/>
                  <a:pt x="518160" y="13716"/>
                </a:cubicBezTo>
                <a:cubicBezTo>
                  <a:pt x="248418" y="-2643"/>
                  <a:pt x="133160" y="4633"/>
                  <a:pt x="0" y="13716"/>
                </a:cubicBezTo>
                <a:cubicBezTo>
                  <a:pt x="43" y="9160"/>
                  <a:pt x="-111" y="481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490721" y="502920"/>
            <a:ext cx="5170932" cy="1463040"/>
          </a:xfrm>
        </p:spPr>
        <p:txBody>
          <a:bodyPr anchor="ctr">
            <a:noAutofit/>
          </a:bodyPr>
          <a:lstStyle/>
          <a:p>
            <a:pPr>
              <a:lnSpc>
                <a:spcPct val="90000"/>
              </a:lnSpc>
            </a:pPr>
            <a:endParaRPr lang="en-GB" sz="1800" dirty="0"/>
          </a:p>
          <a:p>
            <a:pPr>
              <a:lnSpc>
                <a:spcPct val="90000"/>
              </a:lnSpc>
              <a:defRPr sz="2000">
                <a:solidFill>
                  <a:srgbClr val="323232"/>
                </a:solidFill>
                <a:latin typeface="Calibri"/>
              </a:defRPr>
            </a:pPr>
            <a:r>
              <a:rPr lang="en-GB" sz="1800" dirty="0"/>
              <a:t>Recency avg. 65.63 days</a:t>
            </a:r>
          </a:p>
          <a:p>
            <a:pPr>
              <a:lnSpc>
                <a:spcPct val="90000"/>
              </a:lnSpc>
              <a:defRPr sz="2000">
                <a:solidFill>
                  <a:srgbClr val="323232"/>
                </a:solidFill>
                <a:latin typeface="Calibri"/>
              </a:defRPr>
            </a:pPr>
            <a:r>
              <a:rPr lang="en-GB" sz="1800" dirty="0"/>
              <a:t>Frequency avg. 2.23 orders.</a:t>
            </a:r>
          </a:p>
          <a:p>
            <a:pPr>
              <a:lnSpc>
                <a:spcPct val="90000"/>
              </a:lnSpc>
              <a:defRPr sz="2000">
                <a:solidFill>
                  <a:srgbClr val="323232"/>
                </a:solidFill>
                <a:latin typeface="Calibri"/>
              </a:defRPr>
            </a:pPr>
            <a:r>
              <a:rPr lang="en-GB" sz="1800" dirty="0"/>
              <a:t>Monetary avg. $39.96.</a:t>
            </a:r>
            <a:br>
              <a:rPr lang="en-GB" sz="1800" dirty="0"/>
            </a:br>
            <a:endParaRPr lang="en-GB" sz="1800" dirty="0"/>
          </a:p>
        </p:txBody>
      </p:sp>
      <p:pic>
        <p:nvPicPr>
          <p:cNvPr id="6" name="Picture 5" descr="A graph of a customer&#10;&#10;AI-generated content may be incorrect.">
            <a:extLst>
              <a:ext uri="{FF2B5EF4-FFF2-40B4-BE49-F238E27FC236}">
                <a16:creationId xmlns:a16="http://schemas.microsoft.com/office/drawing/2014/main" id="{DE257790-0CE5-4849-EEEC-5C6FB6E02F7D}"/>
              </a:ext>
            </a:extLst>
          </p:cNvPr>
          <p:cNvPicPr>
            <a:picLocks noChangeAspect="1"/>
          </p:cNvPicPr>
          <p:nvPr/>
        </p:nvPicPr>
        <p:blipFill>
          <a:blip r:embed="rId2"/>
          <a:stretch>
            <a:fillRect/>
          </a:stretch>
        </p:blipFill>
        <p:spPr>
          <a:xfrm>
            <a:off x="528286" y="2012910"/>
            <a:ext cx="7408468" cy="4445081"/>
          </a:xfrm>
          <a:prstGeom prst="rect">
            <a:avLst/>
          </a:prstGeom>
        </p:spPr>
      </p:pic>
      <p:sp>
        <p:nvSpPr>
          <p:cNvPr id="9" name="Date Placeholder 8">
            <a:extLst>
              <a:ext uri="{FF2B5EF4-FFF2-40B4-BE49-F238E27FC236}">
                <a16:creationId xmlns:a16="http://schemas.microsoft.com/office/drawing/2014/main" id="{BAD7845A-071F-FD18-1C9C-C60B06FDCF60}"/>
              </a:ext>
            </a:extLst>
          </p:cNvPr>
          <p:cNvSpPr>
            <a:spLocks noGrp="1"/>
          </p:cNvSpPr>
          <p:nvPr>
            <p:ph type="dt" sz="half" idx="10"/>
          </p:nvPr>
        </p:nvSpPr>
        <p:spPr/>
        <p:txBody>
          <a:bodyPr/>
          <a:lstStyle/>
          <a:p>
            <a:fld id="{1C58AA82-E8ED-4153-919F-D8A0A6802E5C}" type="datetime1">
              <a:rPr lang="en-GB" smtClean="0"/>
              <a:t>18/07/2025</a:t>
            </a:fld>
            <a:endParaRPr lang="en-US"/>
          </a:p>
        </p:txBody>
      </p:sp>
      <p:sp>
        <p:nvSpPr>
          <p:cNvPr id="10" name="Slide Number Placeholder 9">
            <a:extLst>
              <a:ext uri="{FF2B5EF4-FFF2-40B4-BE49-F238E27FC236}">
                <a16:creationId xmlns:a16="http://schemas.microsoft.com/office/drawing/2014/main" id="{30AAC150-595E-AAE3-1229-D578C45C45E2}"/>
              </a:ext>
            </a:extLst>
          </p:cNvPr>
          <p:cNvSpPr>
            <a:spLocks noGrp="1"/>
          </p:cNvSpPr>
          <p:nvPr>
            <p:ph type="sldNum" sz="quarter" idx="12"/>
          </p:nvPr>
        </p:nvSpPr>
        <p:spPr/>
        <p:txBody>
          <a:bodyPr/>
          <a:lstStyle/>
          <a:p>
            <a:fld id="{C1FF6DA9-008F-8B48-92A6-B652298478BF}" type="slidenum">
              <a:rPr lang="en-US" smtClean="0"/>
              <a:t>14</a:t>
            </a:fld>
            <a:endParaRPr lang="en-US" dirty="0"/>
          </a:p>
        </p:txBody>
      </p:sp>
      <p:sp>
        <p:nvSpPr>
          <p:cNvPr id="12" name="Footer Placeholder 11">
            <a:extLst>
              <a:ext uri="{FF2B5EF4-FFF2-40B4-BE49-F238E27FC236}">
                <a16:creationId xmlns:a16="http://schemas.microsoft.com/office/drawing/2014/main" id="{6AEC9DA4-C0B1-6A44-BBE2-B9D26115B65C}"/>
              </a:ext>
            </a:extLst>
          </p:cNvPr>
          <p:cNvSpPr>
            <a:spLocks noGrp="1"/>
          </p:cNvSpPr>
          <p:nvPr>
            <p:ph type="ftr" sz="quarter" idx="11"/>
          </p:nvPr>
        </p:nvSpPr>
        <p:spPr/>
        <p:txBody>
          <a:bodyPr/>
          <a:lstStyle/>
          <a:p>
            <a:r>
              <a:rPr lang="en-US"/>
              <a:t>Oladamola Sunday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2149DA-C5E7-E9A3-33DA-AE7C2C96BA8E}"/>
            </a:ext>
          </a:extLst>
        </p:cNvPr>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1" name="Arc 6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63" name="Freeform: Shape 6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descr="A graph of a customer distribution&#10;&#10;AI-generated content may be incorrect.">
            <a:extLst>
              <a:ext uri="{FF2B5EF4-FFF2-40B4-BE49-F238E27FC236}">
                <a16:creationId xmlns:a16="http://schemas.microsoft.com/office/drawing/2014/main" id="{3D6C69C2-ACDE-B728-E5EE-9963F98222F7}"/>
              </a:ext>
            </a:extLst>
          </p:cNvPr>
          <p:cNvPicPr>
            <a:picLocks noChangeAspect="1"/>
          </p:cNvPicPr>
          <p:nvPr/>
        </p:nvPicPr>
        <p:blipFill>
          <a:blip r:embed="rId2"/>
          <a:stretch>
            <a:fillRect/>
          </a:stretch>
        </p:blipFill>
        <p:spPr>
          <a:xfrm>
            <a:off x="1002323" y="11040"/>
            <a:ext cx="6579817" cy="411238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graphicFrame>
        <p:nvGraphicFramePr>
          <p:cNvPr id="65" name="Content Placeholder 2">
            <a:extLst>
              <a:ext uri="{FF2B5EF4-FFF2-40B4-BE49-F238E27FC236}">
                <a16:creationId xmlns:a16="http://schemas.microsoft.com/office/drawing/2014/main" id="{D38B5616-7897-0160-7CA4-9846734D679B}"/>
              </a:ext>
            </a:extLst>
          </p:cNvPr>
          <p:cNvGraphicFramePr>
            <a:graphicFrameLocks noGrp="1"/>
          </p:cNvGraphicFramePr>
          <p:nvPr>
            <p:ph idx="1"/>
            <p:extLst>
              <p:ext uri="{D42A27DB-BD31-4B8C-83A1-F6EECF244321}">
                <p14:modId xmlns:p14="http://schemas.microsoft.com/office/powerpoint/2010/main" val="1068653392"/>
              </p:ext>
            </p:extLst>
          </p:nvPr>
        </p:nvGraphicFramePr>
        <p:xfrm>
          <a:off x="750498" y="4084003"/>
          <a:ext cx="7643004" cy="24940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Date Placeholder 5">
            <a:extLst>
              <a:ext uri="{FF2B5EF4-FFF2-40B4-BE49-F238E27FC236}">
                <a16:creationId xmlns:a16="http://schemas.microsoft.com/office/drawing/2014/main" id="{A881A9DC-EE5A-0EE1-B8B7-E01D4C9BF25B}"/>
              </a:ext>
            </a:extLst>
          </p:cNvPr>
          <p:cNvSpPr>
            <a:spLocks noGrp="1"/>
          </p:cNvSpPr>
          <p:nvPr>
            <p:ph type="dt" sz="half" idx="10"/>
          </p:nvPr>
        </p:nvSpPr>
        <p:spPr/>
        <p:txBody>
          <a:bodyPr/>
          <a:lstStyle/>
          <a:p>
            <a:fld id="{166A8091-6EB7-416C-B396-4A96C5D6932E}" type="datetime1">
              <a:rPr lang="en-GB" smtClean="0"/>
              <a:t>18/07/2025</a:t>
            </a:fld>
            <a:endParaRPr lang="en-US"/>
          </a:p>
        </p:txBody>
      </p:sp>
      <p:sp>
        <p:nvSpPr>
          <p:cNvPr id="8" name="Slide Number Placeholder 7">
            <a:extLst>
              <a:ext uri="{FF2B5EF4-FFF2-40B4-BE49-F238E27FC236}">
                <a16:creationId xmlns:a16="http://schemas.microsoft.com/office/drawing/2014/main" id="{938E34CB-8788-9AF6-DE9B-90DD1E961A87}"/>
              </a:ext>
            </a:extLst>
          </p:cNvPr>
          <p:cNvSpPr>
            <a:spLocks noGrp="1"/>
          </p:cNvSpPr>
          <p:nvPr>
            <p:ph type="sldNum" sz="quarter" idx="12"/>
          </p:nvPr>
        </p:nvSpPr>
        <p:spPr/>
        <p:txBody>
          <a:bodyPr/>
          <a:lstStyle/>
          <a:p>
            <a:fld id="{C1FF6DA9-008F-8B48-92A6-B652298478BF}" type="slidenum">
              <a:rPr lang="en-US" smtClean="0"/>
              <a:t>15</a:t>
            </a:fld>
            <a:endParaRPr lang="en-US"/>
          </a:p>
        </p:txBody>
      </p:sp>
      <p:sp>
        <p:nvSpPr>
          <p:cNvPr id="10" name="Footer Placeholder 9">
            <a:extLst>
              <a:ext uri="{FF2B5EF4-FFF2-40B4-BE49-F238E27FC236}">
                <a16:creationId xmlns:a16="http://schemas.microsoft.com/office/drawing/2014/main" id="{67B9F5B8-B5F0-BB07-9D18-873BCF1875BE}"/>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3063095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50E0AD-416A-1351-D6B2-54133E80F9AF}"/>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White arrows going to the red target">
            <a:extLst>
              <a:ext uri="{FF2B5EF4-FFF2-40B4-BE49-F238E27FC236}">
                <a16:creationId xmlns:a16="http://schemas.microsoft.com/office/drawing/2014/main" id="{B2995C60-DFF3-84C7-0E8D-448AA99EE3D9}"/>
              </a:ext>
            </a:extLst>
          </p:cNvPr>
          <p:cNvPicPr>
            <a:picLocks noChangeAspect="1"/>
          </p:cNvPicPr>
          <p:nvPr/>
        </p:nvPicPr>
        <p:blipFill>
          <a:blip r:embed="rId2"/>
          <a:srcRect l="30466" r="12008" b="9091"/>
          <a:stretch>
            <a:fillRect/>
          </a:stretch>
        </p:blipFill>
        <p:spPr>
          <a:xfrm>
            <a:off x="2642616" y="10"/>
            <a:ext cx="6501384" cy="6857990"/>
          </a:xfrm>
          <a:prstGeom prst="rect">
            <a:avLst/>
          </a:prstGeom>
        </p:spPr>
      </p:pic>
      <p:sp>
        <p:nvSpPr>
          <p:cNvPr id="45" name="Rectangle 44">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317450"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5EA8428-CC1D-C72B-041F-00D8A54C5812}"/>
              </a:ext>
            </a:extLst>
          </p:cNvPr>
          <p:cNvSpPr>
            <a:spLocks noGrp="1"/>
          </p:cNvSpPr>
          <p:nvPr>
            <p:ph type="title"/>
          </p:nvPr>
        </p:nvSpPr>
        <p:spPr>
          <a:xfrm>
            <a:off x="358485" y="1122363"/>
            <a:ext cx="3017520" cy="3204134"/>
          </a:xfrm>
        </p:spPr>
        <p:txBody>
          <a:bodyPr vert="horz" lIns="91440" tIns="45720" rIns="91440" bIns="45720" rtlCol="0" anchor="b">
            <a:normAutofit/>
          </a:bodyPr>
          <a:lstStyle/>
          <a:p>
            <a:pPr algn="l" defTabSz="914400">
              <a:lnSpc>
                <a:spcPct val="90000"/>
              </a:lnSpc>
            </a:pPr>
            <a:r>
              <a:rPr lang="en-US" sz="4200" b="1"/>
              <a:t>Further insights on Customers behavioural pattern</a:t>
            </a:r>
          </a:p>
        </p:txBody>
      </p:sp>
      <p:sp>
        <p:nvSpPr>
          <p:cNvPr id="47" name="Rectangle 4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9" name="Rectangle 4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Date Placeholder 6">
            <a:extLst>
              <a:ext uri="{FF2B5EF4-FFF2-40B4-BE49-F238E27FC236}">
                <a16:creationId xmlns:a16="http://schemas.microsoft.com/office/drawing/2014/main" id="{DF8D1FC3-9FF7-38A3-F388-8B8A4EC89DE8}"/>
              </a:ext>
            </a:extLst>
          </p:cNvPr>
          <p:cNvSpPr>
            <a:spLocks noGrp="1"/>
          </p:cNvSpPr>
          <p:nvPr>
            <p:ph type="dt" sz="half" idx="10"/>
          </p:nvPr>
        </p:nvSpPr>
        <p:spPr/>
        <p:txBody>
          <a:bodyPr/>
          <a:lstStyle/>
          <a:p>
            <a:fld id="{5D6B8EEF-CC57-402A-8ED9-BA8F9AE934D2}" type="datetime1">
              <a:rPr lang="en-GB" smtClean="0"/>
              <a:t>18/07/2025</a:t>
            </a:fld>
            <a:endParaRPr lang="en-US"/>
          </a:p>
        </p:txBody>
      </p:sp>
      <p:sp>
        <p:nvSpPr>
          <p:cNvPr id="8" name="Slide Number Placeholder 7">
            <a:extLst>
              <a:ext uri="{FF2B5EF4-FFF2-40B4-BE49-F238E27FC236}">
                <a16:creationId xmlns:a16="http://schemas.microsoft.com/office/drawing/2014/main" id="{3BF28DC5-B041-8B22-0E7F-C23BF2F73FFC}"/>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10" name="Footer Placeholder 9">
            <a:extLst>
              <a:ext uri="{FF2B5EF4-FFF2-40B4-BE49-F238E27FC236}">
                <a16:creationId xmlns:a16="http://schemas.microsoft.com/office/drawing/2014/main" id="{AFC23618-870F-46F9-807F-D555329F4398}"/>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3711493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8AD0E-19CA-7A73-6577-0473DF285B86}"/>
              </a:ext>
            </a:extLst>
          </p:cNvPr>
          <p:cNvSpPr>
            <a:spLocks noGrp="1"/>
          </p:cNvSpPr>
          <p:nvPr>
            <p:ph type="title"/>
          </p:nvPr>
        </p:nvSpPr>
        <p:spPr>
          <a:xfrm>
            <a:off x="457200" y="274638"/>
            <a:ext cx="8029388" cy="615856"/>
          </a:xfrm>
        </p:spPr>
        <p:txBody>
          <a:bodyPr>
            <a:normAutofit/>
          </a:bodyPr>
          <a:lstStyle/>
          <a:p>
            <a:r>
              <a:rPr lang="en-GB" sz="2400" b="1" dirty="0"/>
              <a:t>Case Study: High Value Isn’t Always Immediate</a:t>
            </a:r>
          </a:p>
        </p:txBody>
      </p:sp>
      <p:pic>
        <p:nvPicPr>
          <p:cNvPr id="5" name="Content Placeholder 4" descr="A graph with numbers and lines&#10;&#10;AI-generated content may be incorrect.">
            <a:extLst>
              <a:ext uri="{FF2B5EF4-FFF2-40B4-BE49-F238E27FC236}">
                <a16:creationId xmlns:a16="http://schemas.microsoft.com/office/drawing/2014/main" id="{501EE67C-1FC7-5891-8138-AB39E186BB01}"/>
              </a:ext>
            </a:extLst>
          </p:cNvPr>
          <p:cNvPicPr>
            <a:picLocks noGrp="1" noChangeAspect="1"/>
          </p:cNvPicPr>
          <p:nvPr>
            <p:ph idx="1"/>
          </p:nvPr>
        </p:nvPicPr>
        <p:blipFill>
          <a:blip r:embed="rId2"/>
          <a:stretch>
            <a:fillRect/>
          </a:stretch>
        </p:blipFill>
        <p:spPr>
          <a:xfrm>
            <a:off x="239059" y="1123576"/>
            <a:ext cx="8665881" cy="5199529"/>
          </a:xfrm>
        </p:spPr>
      </p:pic>
      <p:sp>
        <p:nvSpPr>
          <p:cNvPr id="15" name="Date Placeholder 14">
            <a:extLst>
              <a:ext uri="{FF2B5EF4-FFF2-40B4-BE49-F238E27FC236}">
                <a16:creationId xmlns:a16="http://schemas.microsoft.com/office/drawing/2014/main" id="{3431A92E-8EC8-4FBA-9E04-BAC5C1278CAB}"/>
              </a:ext>
            </a:extLst>
          </p:cNvPr>
          <p:cNvSpPr>
            <a:spLocks noGrp="1"/>
          </p:cNvSpPr>
          <p:nvPr>
            <p:ph type="dt" sz="half" idx="10"/>
          </p:nvPr>
        </p:nvSpPr>
        <p:spPr/>
        <p:txBody>
          <a:bodyPr/>
          <a:lstStyle/>
          <a:p>
            <a:fld id="{F6C2EF16-4E4A-4E8F-B8F3-B672186677F7}" type="datetime1">
              <a:rPr lang="en-GB" smtClean="0"/>
              <a:t>18/07/2025</a:t>
            </a:fld>
            <a:endParaRPr lang="en-US"/>
          </a:p>
        </p:txBody>
      </p:sp>
      <p:sp>
        <p:nvSpPr>
          <p:cNvPr id="21" name="Slide Number Placeholder 20">
            <a:extLst>
              <a:ext uri="{FF2B5EF4-FFF2-40B4-BE49-F238E27FC236}">
                <a16:creationId xmlns:a16="http://schemas.microsoft.com/office/drawing/2014/main" id="{4AE12326-EEA4-5753-AF85-0AFDD6BCC7E9}"/>
              </a:ext>
            </a:extLst>
          </p:cNvPr>
          <p:cNvSpPr>
            <a:spLocks noGrp="1"/>
          </p:cNvSpPr>
          <p:nvPr>
            <p:ph type="sldNum" sz="quarter" idx="12"/>
          </p:nvPr>
        </p:nvSpPr>
        <p:spPr/>
        <p:txBody>
          <a:bodyPr/>
          <a:lstStyle/>
          <a:p>
            <a:fld id="{C1FF6DA9-008F-8B48-92A6-B652298478BF}" type="slidenum">
              <a:rPr lang="en-US" smtClean="0"/>
              <a:t>17</a:t>
            </a:fld>
            <a:endParaRPr lang="en-US"/>
          </a:p>
        </p:txBody>
      </p:sp>
      <p:sp>
        <p:nvSpPr>
          <p:cNvPr id="23" name="Footer Placeholder 22">
            <a:extLst>
              <a:ext uri="{FF2B5EF4-FFF2-40B4-BE49-F238E27FC236}">
                <a16:creationId xmlns:a16="http://schemas.microsoft.com/office/drawing/2014/main" id="{FF46934C-B132-1875-B507-BDD39EFA21FB}"/>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3256572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92FCA-3A1C-74FD-5670-51A43040453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73405B2-70CB-1673-2D20-A0D6EA9D15AE}"/>
              </a:ext>
            </a:extLst>
          </p:cNvPr>
          <p:cNvSpPr txBox="1"/>
          <p:nvPr/>
        </p:nvSpPr>
        <p:spPr>
          <a:xfrm>
            <a:off x="510987" y="4068802"/>
            <a:ext cx="7703670" cy="2031325"/>
          </a:xfrm>
          <a:prstGeom prst="rect">
            <a:avLst/>
          </a:prstGeom>
          <a:noFill/>
        </p:spPr>
        <p:txBody>
          <a:bodyPr wrap="square">
            <a:spAutoFit/>
          </a:bodyPr>
          <a:lstStyle/>
          <a:p>
            <a:r>
              <a:rPr lang="en-GB" b="1" dirty="0"/>
              <a:t>Least spender per order - Customer 199 </a:t>
            </a:r>
          </a:p>
          <a:p>
            <a:pPr>
              <a:buFont typeface="Arial" panose="020B0604020202020204" pitchFamily="34" charset="0"/>
              <a:buChar char="•"/>
            </a:pPr>
            <a:r>
              <a:rPr lang="en-GB" dirty="0"/>
              <a:t>Least price per order: $3, placed in April.</a:t>
            </a:r>
          </a:p>
          <a:p>
            <a:pPr>
              <a:buFont typeface="Arial" panose="020B0604020202020204" pitchFamily="34" charset="0"/>
              <a:buChar char="•"/>
            </a:pPr>
            <a:r>
              <a:rPr lang="en-GB" dirty="0"/>
              <a:t>Despite that, the customer made 4 orders totalling $76, culminating in a $32 purchase later in September.</a:t>
            </a:r>
          </a:p>
          <a:p>
            <a:pPr>
              <a:buFont typeface="Arial" panose="020B0604020202020204" pitchFamily="34" charset="0"/>
              <a:buChar char="•"/>
            </a:pPr>
            <a:r>
              <a:rPr lang="en-GB" dirty="0"/>
              <a:t>Segment: High-Value</a:t>
            </a:r>
          </a:p>
          <a:p>
            <a:pPr>
              <a:buFont typeface="Arial" panose="020B0604020202020204" pitchFamily="34" charset="0"/>
              <a:buChar char="•"/>
            </a:pPr>
            <a:r>
              <a:rPr lang="en-GB" dirty="0"/>
              <a:t>Pattern: April ($3); July ($21), August ($20), and September ($32)</a:t>
            </a:r>
          </a:p>
          <a:p>
            <a:pPr>
              <a:buFont typeface="Arial" panose="020B0604020202020204" pitchFamily="34" charset="0"/>
              <a:buChar char="•"/>
            </a:pPr>
            <a:r>
              <a:rPr lang="en-GB" dirty="0"/>
              <a:t>This pattern hints at growing trust, interest, or satisfaction with the product.</a:t>
            </a:r>
          </a:p>
        </p:txBody>
      </p:sp>
      <p:sp>
        <p:nvSpPr>
          <p:cNvPr id="2" name="TextBox 1">
            <a:extLst>
              <a:ext uri="{FF2B5EF4-FFF2-40B4-BE49-F238E27FC236}">
                <a16:creationId xmlns:a16="http://schemas.microsoft.com/office/drawing/2014/main" id="{8AB94714-8FDA-D75A-6CCE-BE71E704A48D}"/>
              </a:ext>
            </a:extLst>
          </p:cNvPr>
          <p:cNvSpPr txBox="1"/>
          <p:nvPr/>
        </p:nvSpPr>
        <p:spPr>
          <a:xfrm>
            <a:off x="510987" y="782988"/>
            <a:ext cx="8387977" cy="3139321"/>
          </a:xfrm>
          <a:prstGeom prst="rect">
            <a:avLst/>
          </a:prstGeom>
          <a:noFill/>
        </p:spPr>
        <p:txBody>
          <a:bodyPr wrap="square">
            <a:spAutoFit/>
          </a:bodyPr>
          <a:lstStyle/>
          <a:p>
            <a:pPr>
              <a:buNone/>
            </a:pPr>
            <a:r>
              <a:rPr lang="en-GB" b="1" dirty="0"/>
              <a:t>Highest Spender - Customer 17</a:t>
            </a:r>
          </a:p>
          <a:p>
            <a:pPr>
              <a:buFont typeface="Arial" panose="020B0604020202020204" pitchFamily="34" charset="0"/>
              <a:buChar char="•"/>
            </a:pPr>
            <a:r>
              <a:rPr lang="en-GB" dirty="0"/>
              <a:t>Total Spend: $145 across 6 orders</a:t>
            </a:r>
          </a:p>
          <a:p>
            <a:pPr>
              <a:buFont typeface="Arial" panose="020B0604020202020204" pitchFamily="34" charset="0"/>
              <a:buChar char="•"/>
            </a:pPr>
            <a:r>
              <a:rPr lang="en-GB" dirty="0"/>
              <a:t>First Order: June (2 orders; $31)</a:t>
            </a:r>
          </a:p>
          <a:p>
            <a:pPr>
              <a:buFont typeface="Arial" panose="020B0604020202020204" pitchFamily="34" charset="0"/>
              <a:buChar char="•"/>
            </a:pPr>
            <a:r>
              <a:rPr lang="en-GB" dirty="0"/>
              <a:t>Biggest Order: $40 (Highest spend per order of all customers) in September Pattern: Paused in July to August, returned in September (4 orders; $114)</a:t>
            </a:r>
          </a:p>
          <a:p>
            <a:pPr>
              <a:buFont typeface="Arial" panose="020B0604020202020204" pitchFamily="34" charset="0"/>
              <a:buChar char="•"/>
            </a:pPr>
            <a:r>
              <a:rPr lang="en-GB" dirty="0"/>
              <a:t>Segment: High-Value</a:t>
            </a:r>
          </a:p>
          <a:p>
            <a:pPr>
              <a:buFont typeface="Arial" panose="020B0604020202020204" pitchFamily="34" charset="0"/>
              <a:buChar char="•"/>
            </a:pPr>
            <a:endParaRPr lang="en-GB" dirty="0"/>
          </a:p>
          <a:p>
            <a:r>
              <a:rPr lang="en-GB" b="1" dirty="0"/>
              <a:t>Lowest Spender - Customer 160</a:t>
            </a:r>
          </a:p>
          <a:p>
            <a:pPr>
              <a:buFont typeface="Arial" panose="020B0604020202020204" pitchFamily="34" charset="0"/>
              <a:buChar char="•"/>
            </a:pPr>
            <a:r>
              <a:rPr lang="en-GB" dirty="0"/>
              <a:t>Total Spend: $6 from 1 order</a:t>
            </a:r>
          </a:p>
          <a:p>
            <a:pPr>
              <a:buFont typeface="Arial" panose="020B0604020202020204" pitchFamily="34" charset="0"/>
              <a:buChar char="•"/>
            </a:pPr>
            <a:r>
              <a:rPr lang="en-GB" dirty="0"/>
              <a:t>Order Date: April (inception month)</a:t>
            </a:r>
          </a:p>
          <a:p>
            <a:pPr>
              <a:buFont typeface="Arial" panose="020B0604020202020204" pitchFamily="34" charset="0"/>
              <a:buChar char="•"/>
            </a:pPr>
            <a:r>
              <a:rPr lang="en-GB" dirty="0"/>
              <a:t>Segment: Low-Value </a:t>
            </a:r>
          </a:p>
        </p:txBody>
      </p:sp>
      <p:sp>
        <p:nvSpPr>
          <p:cNvPr id="4" name="TextBox 3">
            <a:extLst>
              <a:ext uri="{FF2B5EF4-FFF2-40B4-BE49-F238E27FC236}">
                <a16:creationId xmlns:a16="http://schemas.microsoft.com/office/drawing/2014/main" id="{C3D83A76-D0E5-1776-82B8-5702BDBAB6EC}"/>
              </a:ext>
            </a:extLst>
          </p:cNvPr>
          <p:cNvSpPr txBox="1"/>
          <p:nvPr/>
        </p:nvSpPr>
        <p:spPr>
          <a:xfrm>
            <a:off x="2465294" y="203875"/>
            <a:ext cx="4572000" cy="461665"/>
          </a:xfrm>
          <a:prstGeom prst="rect">
            <a:avLst/>
          </a:prstGeom>
          <a:noFill/>
        </p:spPr>
        <p:txBody>
          <a:bodyPr wrap="square">
            <a:spAutoFit/>
          </a:bodyPr>
          <a:lstStyle/>
          <a:p>
            <a:pPr algn="ctr">
              <a:buNone/>
            </a:pPr>
            <a:r>
              <a:rPr lang="en-GB" sz="2400" b="1" dirty="0"/>
              <a:t>Key Highlights</a:t>
            </a:r>
          </a:p>
        </p:txBody>
      </p:sp>
      <p:sp>
        <p:nvSpPr>
          <p:cNvPr id="10" name="Date Placeholder 9">
            <a:extLst>
              <a:ext uri="{FF2B5EF4-FFF2-40B4-BE49-F238E27FC236}">
                <a16:creationId xmlns:a16="http://schemas.microsoft.com/office/drawing/2014/main" id="{DBADF5D1-1E4E-02D5-3359-7DD0A1CB8FEA}"/>
              </a:ext>
            </a:extLst>
          </p:cNvPr>
          <p:cNvSpPr>
            <a:spLocks noGrp="1"/>
          </p:cNvSpPr>
          <p:nvPr>
            <p:ph type="dt" sz="half" idx="10"/>
          </p:nvPr>
        </p:nvSpPr>
        <p:spPr/>
        <p:txBody>
          <a:bodyPr/>
          <a:lstStyle/>
          <a:p>
            <a:fld id="{3FC33445-A821-4128-8E9F-D65049A0C9ED}" type="datetime1">
              <a:rPr lang="en-GB" smtClean="0"/>
              <a:t>18/07/2025</a:t>
            </a:fld>
            <a:endParaRPr lang="en-US"/>
          </a:p>
        </p:txBody>
      </p:sp>
      <p:sp>
        <p:nvSpPr>
          <p:cNvPr id="11" name="Slide Number Placeholder 10">
            <a:extLst>
              <a:ext uri="{FF2B5EF4-FFF2-40B4-BE49-F238E27FC236}">
                <a16:creationId xmlns:a16="http://schemas.microsoft.com/office/drawing/2014/main" id="{644F6346-7D70-8C88-2DB4-B29A1EFDB183}"/>
              </a:ext>
            </a:extLst>
          </p:cNvPr>
          <p:cNvSpPr>
            <a:spLocks noGrp="1"/>
          </p:cNvSpPr>
          <p:nvPr>
            <p:ph type="sldNum" sz="quarter" idx="12"/>
          </p:nvPr>
        </p:nvSpPr>
        <p:spPr/>
        <p:txBody>
          <a:bodyPr/>
          <a:lstStyle/>
          <a:p>
            <a:fld id="{C1FF6DA9-008F-8B48-92A6-B652298478BF}" type="slidenum">
              <a:rPr lang="en-US" smtClean="0"/>
              <a:t>18</a:t>
            </a:fld>
            <a:endParaRPr lang="en-US"/>
          </a:p>
        </p:txBody>
      </p:sp>
      <p:sp>
        <p:nvSpPr>
          <p:cNvPr id="13" name="Footer Placeholder 12">
            <a:extLst>
              <a:ext uri="{FF2B5EF4-FFF2-40B4-BE49-F238E27FC236}">
                <a16:creationId xmlns:a16="http://schemas.microsoft.com/office/drawing/2014/main" id="{2D98F967-B5EF-7C99-9CE4-99C2E7AE54E3}"/>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1428333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EDD856-ECF6-B0FA-847F-78888501E84B}"/>
              </a:ext>
            </a:extLst>
          </p:cNvPr>
          <p:cNvSpPr>
            <a:spLocks noGrp="1"/>
          </p:cNvSpPr>
          <p:nvPr>
            <p:ph type="title"/>
          </p:nvPr>
        </p:nvSpPr>
        <p:spPr>
          <a:xfrm>
            <a:off x="603504" y="5116529"/>
            <a:ext cx="7944130" cy="1000655"/>
          </a:xfrm>
        </p:spPr>
        <p:txBody>
          <a:bodyPr vert="horz" lIns="91440" tIns="45720" rIns="91440" bIns="45720" rtlCol="0" anchor="t">
            <a:normAutofit/>
          </a:bodyPr>
          <a:lstStyle/>
          <a:p>
            <a:pPr algn="l" defTabSz="914400">
              <a:lnSpc>
                <a:spcPct val="90000"/>
              </a:lnSpc>
            </a:pPr>
            <a:r>
              <a:rPr lang="en-US" sz="3500" b="1" dirty="0">
                <a:solidFill>
                  <a:schemeClr val="accent2"/>
                </a:solidFill>
              </a:rPr>
              <a:t>DISCUSSION AND RECOMMENDATION</a:t>
            </a:r>
          </a:p>
        </p:txBody>
      </p:sp>
      <p:pic>
        <p:nvPicPr>
          <p:cNvPr id="3" name="Picture 2" descr="Variety of fresh salads">
            <a:extLst>
              <a:ext uri="{FF2B5EF4-FFF2-40B4-BE49-F238E27FC236}">
                <a16:creationId xmlns:a16="http://schemas.microsoft.com/office/drawing/2014/main" id="{ECC8A2CE-4412-3DA9-CF69-366F694CD895}"/>
              </a:ext>
            </a:extLst>
          </p:cNvPr>
          <p:cNvPicPr>
            <a:picLocks noChangeAspect="1"/>
          </p:cNvPicPr>
          <p:nvPr/>
        </p:nvPicPr>
        <p:blipFill>
          <a:blip r:embed="rId2"/>
          <a:srcRect t="20132" b="11032"/>
          <a:stretch>
            <a:fillRect/>
          </a:stretch>
        </p:blipFill>
        <p:spPr>
          <a:xfrm>
            <a:off x="20" y="10"/>
            <a:ext cx="9143980" cy="4201449"/>
          </a:xfrm>
          <a:prstGeom prst="rect">
            <a:avLst/>
          </a:prstGeom>
        </p:spPr>
      </p:pic>
      <p:grpSp>
        <p:nvGrpSpPr>
          <p:cNvPr id="38" name="Group 37">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41813"/>
            <a:ext cx="9141713" cy="1828800"/>
            <a:chOff x="-305" y="3144820"/>
            <a:chExt cx="9182100" cy="1551136"/>
          </a:xfrm>
        </p:grpSpPr>
        <p:sp useBgFill="1">
          <p:nvSpPr>
            <p:cNvPr id="39" name="Freeform: Shape 38">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8" name="Date Placeholder 7">
            <a:extLst>
              <a:ext uri="{FF2B5EF4-FFF2-40B4-BE49-F238E27FC236}">
                <a16:creationId xmlns:a16="http://schemas.microsoft.com/office/drawing/2014/main" id="{08502635-2A0A-E2DF-F91F-1CDF759206C7}"/>
              </a:ext>
            </a:extLst>
          </p:cNvPr>
          <p:cNvSpPr>
            <a:spLocks noGrp="1"/>
          </p:cNvSpPr>
          <p:nvPr>
            <p:ph type="dt" sz="half" idx="10"/>
          </p:nvPr>
        </p:nvSpPr>
        <p:spPr/>
        <p:txBody>
          <a:bodyPr/>
          <a:lstStyle/>
          <a:p>
            <a:fld id="{31760512-2F51-4AD5-9551-5F11647C96E1}" type="datetime1">
              <a:rPr lang="en-GB" smtClean="0"/>
              <a:t>18/07/2025</a:t>
            </a:fld>
            <a:endParaRPr lang="en-US"/>
          </a:p>
        </p:txBody>
      </p:sp>
      <p:sp>
        <p:nvSpPr>
          <p:cNvPr id="9" name="Slide Number Placeholder 8">
            <a:extLst>
              <a:ext uri="{FF2B5EF4-FFF2-40B4-BE49-F238E27FC236}">
                <a16:creationId xmlns:a16="http://schemas.microsoft.com/office/drawing/2014/main" id="{ADEE7745-DBC6-FFCC-5354-D3136FB7376B}"/>
              </a:ext>
            </a:extLst>
          </p:cNvPr>
          <p:cNvSpPr>
            <a:spLocks noGrp="1"/>
          </p:cNvSpPr>
          <p:nvPr>
            <p:ph type="sldNum" sz="quarter" idx="12"/>
          </p:nvPr>
        </p:nvSpPr>
        <p:spPr/>
        <p:txBody>
          <a:bodyPr/>
          <a:lstStyle/>
          <a:p>
            <a:fld id="{C1FF6DA9-008F-8B48-92A6-B652298478BF}" type="slidenum">
              <a:rPr lang="en-US" smtClean="0"/>
              <a:t>19</a:t>
            </a:fld>
            <a:endParaRPr lang="en-US"/>
          </a:p>
        </p:txBody>
      </p:sp>
      <p:sp>
        <p:nvSpPr>
          <p:cNvPr id="11" name="Footer Placeholder 10">
            <a:extLst>
              <a:ext uri="{FF2B5EF4-FFF2-40B4-BE49-F238E27FC236}">
                <a16:creationId xmlns:a16="http://schemas.microsoft.com/office/drawing/2014/main" id="{645645F6-5050-8C83-0CF3-D58FD9045B6B}"/>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3811593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836D52-B02C-BE40-E030-BD447B6EFB44}"/>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8" name="Arc 2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0" name="Freeform: Shape 29">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Variety of fresh salads">
            <a:extLst>
              <a:ext uri="{FF2B5EF4-FFF2-40B4-BE49-F238E27FC236}">
                <a16:creationId xmlns:a16="http://schemas.microsoft.com/office/drawing/2014/main" id="{BD296D1D-355A-1773-BF37-1FB10192B9F9}"/>
              </a:ext>
            </a:extLst>
          </p:cNvPr>
          <p:cNvPicPr>
            <a:picLocks noChangeAspect="1"/>
          </p:cNvPicPr>
          <p:nvPr/>
        </p:nvPicPr>
        <p:blipFill>
          <a:blip r:embed="rId2"/>
          <a:srcRect l="21380" r="30458" b="2"/>
          <a:stretch>
            <a:fillRect/>
          </a:stretch>
        </p:blipFill>
        <p:spPr>
          <a:xfrm>
            <a:off x="252781" y="803718"/>
            <a:ext cx="3583036" cy="496580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85B67AE2-E12D-0182-9868-0B198067F438}"/>
              </a:ext>
            </a:extLst>
          </p:cNvPr>
          <p:cNvSpPr>
            <a:spLocks noGrp="1"/>
          </p:cNvSpPr>
          <p:nvPr>
            <p:ph idx="1"/>
          </p:nvPr>
        </p:nvSpPr>
        <p:spPr>
          <a:xfrm>
            <a:off x="3927894" y="101569"/>
            <a:ext cx="4756031" cy="5571773"/>
          </a:xfrm>
        </p:spPr>
        <p:txBody>
          <a:bodyPr>
            <a:noAutofit/>
          </a:bodyPr>
          <a:lstStyle/>
          <a:p>
            <a:pPr marL="0" indent="0">
              <a:lnSpc>
                <a:spcPct val="90000"/>
              </a:lnSpc>
              <a:buNone/>
            </a:pPr>
            <a:r>
              <a:rPr lang="en-GB" sz="1400" dirty="0"/>
              <a:t>Our cuisine diversity is led by Chinese (11 restaurants) and American (10 restaurants), followed by Italian (8 restaurants). Chinatown specializes in Chinese cuisine (6 out of 7 restaurants), Brooklyn shows a strong presence in Pizza (4 out of 10), and Downtown offers a broad range, including American (5) and Japanese (3) options. There is huge market gap and a need to increase our reach to into the different neighbourhoods.</a:t>
            </a:r>
          </a:p>
          <a:p>
            <a:pPr marL="0" indent="0">
              <a:lnSpc>
                <a:spcPct val="90000"/>
              </a:lnSpc>
              <a:buNone/>
            </a:pPr>
            <a:endParaRPr lang="en-GB" sz="1400" dirty="0"/>
          </a:p>
          <a:p>
            <a:pPr marL="0" indent="0">
              <a:lnSpc>
                <a:spcPct val="90000"/>
              </a:lnSpc>
              <a:buNone/>
            </a:pPr>
            <a:r>
              <a:rPr lang="en-GB" sz="1400" dirty="0"/>
              <a:t>A remarkable 207% growth was observed in average order amount from April ($9.61) to September ($29.51), suggesting customers are increasingly willing to spend more, possibly due to new premium offerings or seasonal trends. However, a dip in August (73 orders, $21.15 average) points to a temporary demand slowdown, potentially linked to fewer high-value orders during that month.</a:t>
            </a:r>
          </a:p>
          <a:p>
            <a:pPr marL="0" indent="0">
              <a:lnSpc>
                <a:spcPct val="90000"/>
              </a:lnSpc>
              <a:buNone/>
            </a:pPr>
            <a:endParaRPr lang="en-GB" sz="1400" dirty="0"/>
          </a:p>
          <a:p>
            <a:pPr marL="0" indent="0">
              <a:lnSpc>
                <a:spcPct val="90000"/>
              </a:lnSpc>
              <a:buNone/>
            </a:pPr>
            <a:r>
              <a:rPr lang="en-GB" sz="1400" dirty="0"/>
              <a:t>Investigate the reasons for the dips in order on Wednesdays. Though with decreased orders compared to Mondays, there is an observed high spend on Tuesdays. This is worth investigating to know the customer status and the kind of orders they make, for example, bulk buys, recurring order etc.</a:t>
            </a:r>
          </a:p>
          <a:p>
            <a:pPr marL="0" indent="0">
              <a:lnSpc>
                <a:spcPct val="90000"/>
              </a:lnSpc>
              <a:buNone/>
            </a:pPr>
            <a:endParaRPr lang="en-GB" sz="1400" dirty="0"/>
          </a:p>
          <a:p>
            <a:pPr marL="0" indent="0">
              <a:lnSpc>
                <a:spcPct val="90000"/>
              </a:lnSpc>
              <a:buNone/>
            </a:pPr>
            <a:r>
              <a:rPr lang="en-GB" sz="1400" dirty="0"/>
              <a:t>Prioritize promotions on high-traffic days (Friday &amp; Saturday). This can be by offering timed promotions like “Hot Friday” or “Weekend Special”.</a:t>
            </a:r>
          </a:p>
          <a:p>
            <a:pPr marL="0" indent="0">
              <a:lnSpc>
                <a:spcPct val="90000"/>
              </a:lnSpc>
              <a:buNone/>
            </a:pPr>
            <a:r>
              <a:rPr lang="en-GB" sz="1400" dirty="0"/>
              <a:t>Recommendation: Design a bonus model for Tuesday or loyalty benefits for high-spend behaviour. Push app notifications or email nudges on Thursday evenings to prime engagement. Run Wednesday-exclusive promos to lift volume (e.g. “Midweek Munch” offer).</a:t>
            </a:r>
          </a:p>
          <a:p>
            <a:pPr marL="0" indent="0">
              <a:lnSpc>
                <a:spcPct val="90000"/>
              </a:lnSpc>
              <a:buNone/>
            </a:pPr>
            <a:endParaRPr lang="en-GB" sz="1400" dirty="0"/>
          </a:p>
          <a:p>
            <a:pPr marL="0" indent="0">
              <a:lnSpc>
                <a:spcPct val="90000"/>
              </a:lnSpc>
              <a:buNone/>
            </a:pPr>
            <a:endParaRPr lang="en-GB" sz="1400" dirty="0"/>
          </a:p>
        </p:txBody>
      </p:sp>
      <p:sp>
        <p:nvSpPr>
          <p:cNvPr id="8" name="Date Placeholder 7">
            <a:extLst>
              <a:ext uri="{FF2B5EF4-FFF2-40B4-BE49-F238E27FC236}">
                <a16:creationId xmlns:a16="http://schemas.microsoft.com/office/drawing/2014/main" id="{B4A472A6-31B6-BE52-26FF-D90EC9767349}"/>
              </a:ext>
            </a:extLst>
          </p:cNvPr>
          <p:cNvSpPr>
            <a:spLocks noGrp="1"/>
          </p:cNvSpPr>
          <p:nvPr>
            <p:ph type="dt" sz="half" idx="10"/>
          </p:nvPr>
        </p:nvSpPr>
        <p:spPr/>
        <p:txBody>
          <a:bodyPr/>
          <a:lstStyle/>
          <a:p>
            <a:fld id="{12B22460-E5DA-4183-8FED-4B9F1730727E}" type="datetime1">
              <a:rPr lang="en-GB" smtClean="0"/>
              <a:t>18/07/2025</a:t>
            </a:fld>
            <a:endParaRPr lang="en-US"/>
          </a:p>
        </p:txBody>
      </p:sp>
      <p:sp>
        <p:nvSpPr>
          <p:cNvPr id="9" name="Slide Number Placeholder 8">
            <a:extLst>
              <a:ext uri="{FF2B5EF4-FFF2-40B4-BE49-F238E27FC236}">
                <a16:creationId xmlns:a16="http://schemas.microsoft.com/office/drawing/2014/main" id="{33D7B088-397A-FE38-712A-5C235B43039E}"/>
              </a:ext>
            </a:extLst>
          </p:cNvPr>
          <p:cNvSpPr>
            <a:spLocks noGrp="1"/>
          </p:cNvSpPr>
          <p:nvPr>
            <p:ph type="sldNum" sz="quarter" idx="12"/>
          </p:nvPr>
        </p:nvSpPr>
        <p:spPr/>
        <p:txBody>
          <a:bodyPr/>
          <a:lstStyle/>
          <a:p>
            <a:fld id="{C1FF6DA9-008F-8B48-92A6-B652298478BF}" type="slidenum">
              <a:rPr lang="en-US" smtClean="0"/>
              <a:t>20</a:t>
            </a:fld>
            <a:endParaRPr lang="en-US"/>
          </a:p>
        </p:txBody>
      </p:sp>
      <p:sp>
        <p:nvSpPr>
          <p:cNvPr id="11" name="Footer Placeholder 10">
            <a:extLst>
              <a:ext uri="{FF2B5EF4-FFF2-40B4-BE49-F238E27FC236}">
                <a16:creationId xmlns:a16="http://schemas.microsoft.com/office/drawing/2014/main" id="{56510F6B-97D0-EC87-CC5B-604EFCD41B13}"/>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1849271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E3A453-6D9A-9C6E-C0EB-16A69F8E1795}"/>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 name="Arc 3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Freeform: Shape 3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Variety of fresh salads">
            <a:extLst>
              <a:ext uri="{FF2B5EF4-FFF2-40B4-BE49-F238E27FC236}">
                <a16:creationId xmlns:a16="http://schemas.microsoft.com/office/drawing/2014/main" id="{44FC3EA3-CA36-E6CB-3A0E-FF5C0B10933C}"/>
              </a:ext>
            </a:extLst>
          </p:cNvPr>
          <p:cNvPicPr>
            <a:picLocks noChangeAspect="1"/>
          </p:cNvPicPr>
          <p:nvPr/>
        </p:nvPicPr>
        <p:blipFill>
          <a:blip r:embed="rId2"/>
          <a:srcRect l="21380" r="30458" b="2"/>
          <a:stretch>
            <a:fillRect/>
          </a:stretch>
        </p:blipFill>
        <p:spPr>
          <a:xfrm>
            <a:off x="184843" y="842583"/>
            <a:ext cx="3583036" cy="496580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3B51255E-6055-628F-7DEE-E3E79DF1426D}"/>
              </a:ext>
            </a:extLst>
          </p:cNvPr>
          <p:cNvSpPr>
            <a:spLocks noGrp="1"/>
          </p:cNvSpPr>
          <p:nvPr>
            <p:ph idx="1"/>
          </p:nvPr>
        </p:nvSpPr>
        <p:spPr>
          <a:xfrm>
            <a:off x="3860707" y="470060"/>
            <a:ext cx="4600953" cy="6668061"/>
          </a:xfrm>
        </p:spPr>
        <p:txBody>
          <a:bodyPr>
            <a:noAutofit/>
          </a:bodyPr>
          <a:lstStyle/>
          <a:p>
            <a:pPr marL="0" indent="0">
              <a:lnSpc>
                <a:spcPct val="90000"/>
              </a:lnSpc>
              <a:buNone/>
            </a:pPr>
            <a:endParaRPr lang="en-GB" sz="1400" dirty="0"/>
          </a:p>
          <a:p>
            <a:pPr marL="0" indent="0">
              <a:lnSpc>
                <a:spcPct val="90000"/>
              </a:lnSpc>
              <a:buNone/>
            </a:pPr>
            <a:r>
              <a:rPr lang="en-GB" sz="1400" dirty="0"/>
              <a:t> Mid-value customers also show an immense loyalty (85.5% repeat). This tier has the capacity to be converted to high-value customers.</a:t>
            </a:r>
            <a:br>
              <a:rPr lang="en-GB" sz="1400" dirty="0"/>
            </a:br>
            <a:r>
              <a:rPr lang="en-GB" sz="1400" dirty="0"/>
              <a:t>Recommendations: Recognition emails, loyalty rewards, incentives, or automation to guide them toward repeat purchases.</a:t>
            </a:r>
          </a:p>
          <a:p>
            <a:pPr marL="0" indent="0">
              <a:lnSpc>
                <a:spcPct val="90000"/>
              </a:lnSpc>
              <a:buNone/>
            </a:pPr>
            <a:endParaRPr lang="en-GB" sz="1400" dirty="0"/>
          </a:p>
          <a:p>
            <a:pPr marL="0" indent="0">
              <a:lnSpc>
                <a:spcPct val="90000"/>
              </a:lnSpc>
              <a:buNone/>
            </a:pPr>
            <a:r>
              <a:rPr lang="en-GB" sz="1400" dirty="0"/>
              <a:t>The RFM (Recency, Frequency, Monetary) analysis on 224 customers reveals a moderate level of loyalty with a notable churn risk. The average customer last ordered 65.63 days ago (maximum of 180 days), places 2.23 orders on average, and spends an average of $39.96 (with a maximum of $145). Approximately 70% of our customers have not ordered in over 30 days, and a quarter haven't placed an order in over 103 days, highlighting a need for proactive re-engagement.</a:t>
            </a:r>
          </a:p>
          <a:p>
            <a:pPr marL="0" indent="0">
              <a:lnSpc>
                <a:spcPct val="90000"/>
              </a:lnSpc>
              <a:buNone/>
            </a:pPr>
            <a:endParaRPr lang="en-GB" sz="1400" dirty="0"/>
          </a:p>
          <a:p>
            <a:pPr marL="0" indent="0">
              <a:lnSpc>
                <a:spcPct val="90000"/>
              </a:lnSpc>
              <a:buNone/>
            </a:pPr>
            <a:r>
              <a:rPr lang="en-GB" sz="1400" dirty="0"/>
              <a:t>Charts show that high-value customers peak in monetary, frequency and recency. They sit at the top of value pyramid. Prioritize retention efforts for them. Be committed to nurturing them.</a:t>
            </a:r>
          </a:p>
          <a:p>
            <a:pPr marL="0" indent="0">
              <a:lnSpc>
                <a:spcPct val="90000"/>
              </a:lnSpc>
              <a:buNone/>
            </a:pPr>
            <a:endParaRPr lang="en-GB" sz="1400" dirty="0"/>
          </a:p>
          <a:p>
            <a:pPr marL="0" indent="0">
              <a:lnSpc>
                <a:spcPct val="90000"/>
              </a:lnSpc>
              <a:buNone/>
            </a:pPr>
            <a:r>
              <a:rPr lang="en-GB" sz="1400" dirty="0"/>
              <a:t>High average recency (65.63 days) indicates churn risk, as many customers haven’t ordered recently.  Make the ~67 customers in the 91–180 days range ideal targets for immediate win-back or reactivation strategies.</a:t>
            </a:r>
          </a:p>
          <a:p>
            <a:pPr marL="0" indent="0">
              <a:lnSpc>
                <a:spcPct val="90000"/>
              </a:lnSpc>
              <a:buNone/>
            </a:pPr>
            <a:br>
              <a:rPr lang="en-GB" sz="1400" dirty="0"/>
            </a:br>
            <a:r>
              <a:rPr lang="en-GB" sz="1400" dirty="0"/>
              <a:t>Recommendations: Start a reach-out campaign, engagement reminder, discounts and survey.</a:t>
            </a:r>
          </a:p>
          <a:p>
            <a:pPr marL="0" indent="0">
              <a:lnSpc>
                <a:spcPct val="90000"/>
              </a:lnSpc>
              <a:buNone/>
            </a:pPr>
            <a:endParaRPr lang="en-GB" sz="1400" dirty="0"/>
          </a:p>
        </p:txBody>
      </p:sp>
      <p:sp>
        <p:nvSpPr>
          <p:cNvPr id="8" name="Date Placeholder 7">
            <a:extLst>
              <a:ext uri="{FF2B5EF4-FFF2-40B4-BE49-F238E27FC236}">
                <a16:creationId xmlns:a16="http://schemas.microsoft.com/office/drawing/2014/main" id="{20F4C0A8-5362-DB77-6B5C-479179FA32E8}"/>
              </a:ext>
            </a:extLst>
          </p:cNvPr>
          <p:cNvSpPr>
            <a:spLocks noGrp="1"/>
          </p:cNvSpPr>
          <p:nvPr>
            <p:ph type="dt" sz="half" idx="10"/>
          </p:nvPr>
        </p:nvSpPr>
        <p:spPr/>
        <p:txBody>
          <a:bodyPr/>
          <a:lstStyle/>
          <a:p>
            <a:fld id="{44CFBA35-B0E9-4F8C-9CD7-88F082F2578F}" type="datetime1">
              <a:rPr lang="en-GB" smtClean="0"/>
              <a:t>18/07/2025</a:t>
            </a:fld>
            <a:endParaRPr lang="en-US"/>
          </a:p>
        </p:txBody>
      </p:sp>
      <p:sp>
        <p:nvSpPr>
          <p:cNvPr id="9" name="Slide Number Placeholder 8">
            <a:extLst>
              <a:ext uri="{FF2B5EF4-FFF2-40B4-BE49-F238E27FC236}">
                <a16:creationId xmlns:a16="http://schemas.microsoft.com/office/drawing/2014/main" id="{A5AF5970-45EA-6C44-5B50-56814F7E52B5}"/>
              </a:ext>
            </a:extLst>
          </p:cNvPr>
          <p:cNvSpPr>
            <a:spLocks noGrp="1"/>
          </p:cNvSpPr>
          <p:nvPr>
            <p:ph type="sldNum" sz="quarter" idx="12"/>
          </p:nvPr>
        </p:nvSpPr>
        <p:spPr/>
        <p:txBody>
          <a:bodyPr/>
          <a:lstStyle/>
          <a:p>
            <a:fld id="{C1FF6DA9-008F-8B48-92A6-B652298478BF}" type="slidenum">
              <a:rPr lang="en-US" smtClean="0"/>
              <a:t>21</a:t>
            </a:fld>
            <a:endParaRPr lang="en-US"/>
          </a:p>
        </p:txBody>
      </p:sp>
      <p:sp>
        <p:nvSpPr>
          <p:cNvPr id="11" name="Footer Placeholder 10">
            <a:extLst>
              <a:ext uri="{FF2B5EF4-FFF2-40B4-BE49-F238E27FC236}">
                <a16:creationId xmlns:a16="http://schemas.microsoft.com/office/drawing/2014/main" id="{74A37AD3-2BDA-248C-002A-D14399BCEB7A}"/>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2080870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7A806A-C4E6-2DFD-166E-7E74CE2DD733}"/>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gures of houses in different position and sizes">
            <a:extLst>
              <a:ext uri="{FF2B5EF4-FFF2-40B4-BE49-F238E27FC236}">
                <a16:creationId xmlns:a16="http://schemas.microsoft.com/office/drawing/2014/main" id="{56D19A48-89DF-326D-D644-34D28482F58C}"/>
              </a:ext>
            </a:extLst>
          </p:cNvPr>
          <p:cNvPicPr>
            <a:picLocks noChangeAspect="1"/>
          </p:cNvPicPr>
          <p:nvPr/>
        </p:nvPicPr>
        <p:blipFill>
          <a:blip r:embed="rId2"/>
          <a:srcRect l="11764" r="28753"/>
          <a:stretch>
            <a:fillRect/>
          </a:stretch>
        </p:blipFill>
        <p:spPr>
          <a:xfrm>
            <a:off x="1891767" y="10"/>
            <a:ext cx="7252231" cy="6857990"/>
          </a:xfrm>
          <a:prstGeom prst="rect">
            <a:avLst/>
          </a:prstGeom>
        </p:spPr>
      </p:pic>
      <p:sp>
        <p:nvSpPr>
          <p:cNvPr id="30" name="Rectangle 2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42696"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46042F1-7110-7E4A-DE11-16334B0B069C}"/>
              </a:ext>
            </a:extLst>
          </p:cNvPr>
          <p:cNvSpPr>
            <a:spLocks noGrp="1"/>
          </p:cNvSpPr>
          <p:nvPr>
            <p:ph type="title"/>
          </p:nvPr>
        </p:nvSpPr>
        <p:spPr>
          <a:xfrm>
            <a:off x="628650" y="365125"/>
            <a:ext cx="2866641" cy="1899912"/>
          </a:xfrm>
        </p:spPr>
        <p:txBody>
          <a:bodyPr>
            <a:normAutofit/>
          </a:bodyPr>
          <a:lstStyle/>
          <a:p>
            <a:r>
              <a:rPr lang="en-GB" sz="3500" b="1" dirty="0"/>
              <a:t>CONCLUSION</a:t>
            </a:r>
          </a:p>
        </p:txBody>
      </p:sp>
      <p:sp>
        <p:nvSpPr>
          <p:cNvPr id="3" name="Content Placeholder 2">
            <a:extLst>
              <a:ext uri="{FF2B5EF4-FFF2-40B4-BE49-F238E27FC236}">
                <a16:creationId xmlns:a16="http://schemas.microsoft.com/office/drawing/2014/main" id="{5AF4158C-99D4-2E91-94D6-206880FB6A46}"/>
              </a:ext>
            </a:extLst>
          </p:cNvPr>
          <p:cNvSpPr>
            <a:spLocks noGrp="1"/>
          </p:cNvSpPr>
          <p:nvPr>
            <p:ph idx="1"/>
          </p:nvPr>
        </p:nvSpPr>
        <p:spPr>
          <a:xfrm>
            <a:off x="628650" y="2434201"/>
            <a:ext cx="2866641" cy="3742762"/>
          </a:xfrm>
        </p:spPr>
        <p:txBody>
          <a:bodyPr>
            <a:normAutofit/>
          </a:bodyPr>
          <a:lstStyle/>
          <a:p>
            <a:pPr marL="0" indent="0">
              <a:buNone/>
            </a:pPr>
            <a:r>
              <a:rPr lang="en-GB" sz="1800" dirty="0"/>
              <a:t>From our case study with customer 119, it is clear there is potential in all customers regardless of their initial order size. This echoes a need to strengthen our customer retention policies and strategies to migrate the low-value customers into the high-value customers’ bracket.</a:t>
            </a:r>
          </a:p>
          <a:p>
            <a:pPr marL="0" indent="0">
              <a:buNone/>
            </a:pPr>
            <a:endParaRPr lang="en-GB" sz="1800" dirty="0"/>
          </a:p>
        </p:txBody>
      </p:sp>
      <p:sp>
        <p:nvSpPr>
          <p:cNvPr id="9" name="Date Placeholder 8">
            <a:extLst>
              <a:ext uri="{FF2B5EF4-FFF2-40B4-BE49-F238E27FC236}">
                <a16:creationId xmlns:a16="http://schemas.microsoft.com/office/drawing/2014/main" id="{078553EA-7FA7-1060-02E4-8D28B23812DA}"/>
              </a:ext>
            </a:extLst>
          </p:cNvPr>
          <p:cNvSpPr>
            <a:spLocks noGrp="1"/>
          </p:cNvSpPr>
          <p:nvPr>
            <p:ph type="dt" sz="half" idx="10"/>
          </p:nvPr>
        </p:nvSpPr>
        <p:spPr/>
        <p:txBody>
          <a:bodyPr/>
          <a:lstStyle/>
          <a:p>
            <a:fld id="{C2FE50F0-FFA8-4B4A-9459-A254417D9ACF}" type="datetime1">
              <a:rPr lang="en-GB" smtClean="0"/>
              <a:t>18/07/2025</a:t>
            </a:fld>
            <a:endParaRPr lang="en-US"/>
          </a:p>
        </p:txBody>
      </p:sp>
      <p:sp>
        <p:nvSpPr>
          <p:cNvPr id="10" name="Slide Number Placeholder 9">
            <a:extLst>
              <a:ext uri="{FF2B5EF4-FFF2-40B4-BE49-F238E27FC236}">
                <a16:creationId xmlns:a16="http://schemas.microsoft.com/office/drawing/2014/main" id="{AE86B596-CEE4-435D-CEB3-ADC232E7D759}"/>
              </a:ext>
            </a:extLst>
          </p:cNvPr>
          <p:cNvSpPr>
            <a:spLocks noGrp="1"/>
          </p:cNvSpPr>
          <p:nvPr>
            <p:ph type="sldNum" sz="quarter" idx="12"/>
          </p:nvPr>
        </p:nvSpPr>
        <p:spPr/>
        <p:txBody>
          <a:bodyPr/>
          <a:lstStyle/>
          <a:p>
            <a:fld id="{C1FF6DA9-008F-8B48-92A6-B652298478BF}" type="slidenum">
              <a:rPr lang="en-US" smtClean="0"/>
              <a:t>22</a:t>
            </a:fld>
            <a:endParaRPr lang="en-US"/>
          </a:p>
        </p:txBody>
      </p:sp>
      <p:sp>
        <p:nvSpPr>
          <p:cNvPr id="12" name="Footer Placeholder 11">
            <a:extLst>
              <a:ext uri="{FF2B5EF4-FFF2-40B4-BE49-F238E27FC236}">
                <a16:creationId xmlns:a16="http://schemas.microsoft.com/office/drawing/2014/main" id="{51D8D934-8B1C-3A0D-5E99-3EB42C05A68C}"/>
              </a:ext>
            </a:extLst>
          </p:cNvPr>
          <p:cNvSpPr>
            <a:spLocks noGrp="1"/>
          </p:cNvSpPr>
          <p:nvPr>
            <p:ph type="ftr" sz="quarter" idx="11"/>
          </p:nvPr>
        </p:nvSpPr>
        <p:spPr/>
        <p:txBody>
          <a:bodyPr/>
          <a:lstStyle/>
          <a:p>
            <a:r>
              <a:rPr lang="en-US"/>
              <a:t>Oladamola Sunday</a:t>
            </a:r>
          </a:p>
        </p:txBody>
      </p:sp>
    </p:spTree>
    <p:extLst>
      <p:ext uri="{BB962C8B-B14F-4D97-AF65-F5344CB8AC3E}">
        <p14:creationId xmlns:p14="http://schemas.microsoft.com/office/powerpoint/2010/main" val="355566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Food on a table">
            <a:extLst>
              <a:ext uri="{FF2B5EF4-FFF2-40B4-BE49-F238E27FC236}">
                <a16:creationId xmlns:a16="http://schemas.microsoft.com/office/drawing/2014/main" id="{DE840E40-3BE0-1DAD-E289-DF5575C117E1}"/>
              </a:ext>
            </a:extLst>
          </p:cNvPr>
          <p:cNvPicPr>
            <a:picLocks noChangeAspect="1"/>
          </p:cNvPicPr>
          <p:nvPr/>
        </p:nvPicPr>
        <p:blipFill>
          <a:blip r:embed="rId2"/>
          <a:srcRect l="19091" t="9091"/>
          <a:stretch>
            <a:fillRect/>
          </a:stretch>
        </p:blipFill>
        <p:spPr>
          <a:xfrm>
            <a:off x="20" y="10"/>
            <a:ext cx="9143980" cy="6857990"/>
          </a:xfrm>
          <a:prstGeom prst="rect">
            <a:avLst/>
          </a:prstGeom>
        </p:spPr>
      </p:pic>
      <p:sp>
        <p:nvSpPr>
          <p:cNvPr id="47" name="Rectangle 46">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320E73-CFEA-AA18-85BD-D27FEA01C007}"/>
              </a:ext>
            </a:extLst>
          </p:cNvPr>
          <p:cNvSpPr>
            <a:spLocks noGrp="1"/>
          </p:cNvSpPr>
          <p:nvPr>
            <p:ph type="title"/>
          </p:nvPr>
        </p:nvSpPr>
        <p:spPr>
          <a:xfrm>
            <a:off x="303414" y="3091928"/>
            <a:ext cx="6808922" cy="2387600"/>
          </a:xfrm>
        </p:spPr>
        <p:txBody>
          <a:bodyPr vert="horz" lIns="91440" tIns="45720" rIns="91440" bIns="45720" rtlCol="0" anchor="b">
            <a:normAutofit/>
          </a:bodyPr>
          <a:lstStyle/>
          <a:p>
            <a:pPr algn="l" defTabSz="914400">
              <a:lnSpc>
                <a:spcPct val="90000"/>
              </a:lnSpc>
            </a:pPr>
            <a:r>
              <a:rPr lang="en-US" sz="5700" b="1">
                <a:solidFill>
                  <a:schemeClr val="bg1"/>
                </a:solidFill>
              </a:rPr>
              <a:t>Thanks</a:t>
            </a:r>
          </a:p>
        </p:txBody>
      </p:sp>
      <p:sp>
        <p:nvSpPr>
          <p:cNvPr id="48" name="Rectangle: Rounded Corners 47">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7">
            <a:extLst>
              <a:ext uri="{FF2B5EF4-FFF2-40B4-BE49-F238E27FC236}">
                <a16:creationId xmlns:a16="http://schemas.microsoft.com/office/drawing/2014/main" id="{32F5627D-F0AB-55EB-9963-D02709C2E041}"/>
              </a:ext>
            </a:extLst>
          </p:cNvPr>
          <p:cNvSpPr>
            <a:spLocks noGrp="1"/>
          </p:cNvSpPr>
          <p:nvPr>
            <p:ph type="dt" sz="half" idx="10"/>
          </p:nvPr>
        </p:nvSpPr>
        <p:spPr>
          <a:xfrm>
            <a:off x="303414" y="6356350"/>
            <a:ext cx="2057400" cy="365125"/>
          </a:xfrm>
        </p:spPr>
        <p:txBody>
          <a:bodyPr vert="horz" lIns="91440" tIns="45720" rIns="91440" bIns="45720" rtlCol="0" anchor="ctr">
            <a:normAutofit/>
          </a:bodyPr>
          <a:lstStyle/>
          <a:p>
            <a:pPr defTabSz="914400">
              <a:spcAft>
                <a:spcPts val="600"/>
              </a:spcAft>
              <a:defRPr/>
            </a:pPr>
            <a:fld id="{60627A2A-DC5D-45E1-8CFD-ACB5E8603947}" type="datetime1">
              <a:rPr lang="en-US">
                <a:solidFill>
                  <a:schemeClr val="bg1"/>
                </a:solidFill>
                <a:latin typeface="Calibri" panose="020F0502020204030204"/>
              </a:rPr>
              <a:pPr defTabSz="914400">
                <a:spcAft>
                  <a:spcPts val="600"/>
                </a:spcAft>
                <a:defRPr/>
              </a:pPr>
              <a:t>7/18/2025</a:t>
            </a:fld>
            <a:endParaRPr lang="en-US">
              <a:solidFill>
                <a:schemeClr val="bg1"/>
              </a:solidFill>
              <a:latin typeface="Calibri" panose="020F0502020204030204"/>
            </a:endParaRPr>
          </a:p>
        </p:txBody>
      </p:sp>
      <p:sp>
        <p:nvSpPr>
          <p:cNvPr id="11" name="Footer Placeholder 10">
            <a:extLst>
              <a:ext uri="{FF2B5EF4-FFF2-40B4-BE49-F238E27FC236}">
                <a16:creationId xmlns:a16="http://schemas.microsoft.com/office/drawing/2014/main" id="{3B1CAD20-F9CF-25C3-91A8-9E7D39E104BA}"/>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chemeClr val="bg1"/>
                </a:solidFill>
                <a:latin typeface="Calibri" panose="020F0502020204030204"/>
                <a:ea typeface="+mn-ea"/>
                <a:cs typeface="+mn-cs"/>
              </a:rPr>
              <a:t>Oladamola Sunday</a:t>
            </a:r>
          </a:p>
        </p:txBody>
      </p:sp>
      <p:sp>
        <p:nvSpPr>
          <p:cNvPr id="9" name="Slide Number Placeholder 8">
            <a:extLst>
              <a:ext uri="{FF2B5EF4-FFF2-40B4-BE49-F238E27FC236}">
                <a16:creationId xmlns:a16="http://schemas.microsoft.com/office/drawing/2014/main" id="{55208BB0-D0F1-C18E-476C-11886B15B70F}"/>
              </a:ext>
            </a:extLst>
          </p:cNvPr>
          <p:cNvSpPr>
            <a:spLocks noGrp="1"/>
          </p:cNvSpPr>
          <p:nvPr>
            <p:ph type="sldNum" sz="quarter" idx="12"/>
          </p:nvPr>
        </p:nvSpPr>
        <p:spPr>
          <a:xfrm>
            <a:off x="6780899" y="6356350"/>
            <a:ext cx="2057400" cy="365125"/>
          </a:xfrm>
        </p:spPr>
        <p:txBody>
          <a:bodyPr vert="horz" lIns="91440" tIns="45720" rIns="91440" bIns="45720" rtlCol="0" anchor="ctr">
            <a:normAutofit/>
          </a:bodyPr>
          <a:lstStyle/>
          <a:p>
            <a:pPr defTabSz="914400">
              <a:spcAft>
                <a:spcPts val="600"/>
              </a:spcAft>
              <a:defRPr/>
            </a:pPr>
            <a:fld id="{C1FF6DA9-008F-8B48-92A6-B652298478BF}" type="slidenum">
              <a:rPr lang="en-US">
                <a:solidFill>
                  <a:schemeClr val="bg1"/>
                </a:solidFill>
                <a:latin typeface="Calibri" panose="020F0502020204030204"/>
              </a:rPr>
              <a:pPr defTabSz="914400">
                <a:spcAft>
                  <a:spcPts val="600"/>
                </a:spcAft>
                <a:defRPr/>
              </a:pPr>
              <a:t>23</a:t>
            </a:fld>
            <a:endParaRPr lang="en-US">
              <a:solidFill>
                <a:schemeClr val="bg1"/>
              </a:solidFill>
              <a:latin typeface="Calibri" panose="020F0502020204030204"/>
            </a:endParaRPr>
          </a:p>
        </p:txBody>
      </p:sp>
    </p:spTree>
    <p:extLst>
      <p:ext uri="{BB962C8B-B14F-4D97-AF65-F5344CB8AC3E}">
        <p14:creationId xmlns:p14="http://schemas.microsoft.com/office/powerpoint/2010/main" val="3658698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4588</TotalTime>
  <Words>1406</Words>
  <Application>Microsoft Office PowerPoint</Application>
  <PresentationFormat>On-screen Show (4:3)</PresentationFormat>
  <Paragraphs>170</Paragraphs>
  <Slides>23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Arial</vt:lpstr>
      <vt:lpstr>Calibri</vt:lpstr>
      <vt:lpstr>Office Theme</vt:lpstr>
      <vt:lpstr>FoodWheel Strategic Insights: Driving Growth Through Data</vt:lpstr>
      <vt:lpstr>Key Findings and Strategic Opportunities</vt:lpstr>
      <vt:lpstr>What Cuisines Does FoodWheel Offer?</vt:lpstr>
      <vt:lpstr>Cuisines distribution across neighbourhoods</vt:lpstr>
      <vt:lpstr>How Has the Average Order Amount and Numbers of Order Changed Over Time?</vt:lpstr>
      <vt:lpstr>Customers and their orders</vt:lpstr>
      <vt:lpstr>Optimizing Pricing and Operations</vt:lpstr>
      <vt:lpstr>How Much Are Customers Spending?</vt:lpstr>
      <vt:lpstr>How are customers segmented by their total spending?</vt:lpstr>
      <vt:lpstr>Customers Spending Proportion based on Segment</vt:lpstr>
      <vt:lpstr>Are Customers Returning to FoodWheel?</vt:lpstr>
      <vt:lpstr>PowerPoint Presentation</vt:lpstr>
      <vt:lpstr>When Are Customers Ordering?</vt:lpstr>
      <vt:lpstr>Unlocking Customer Insights with RFM Analysis</vt:lpstr>
      <vt:lpstr>PowerPoint Presentation</vt:lpstr>
      <vt:lpstr>Further insights on Customers behavioural pattern</vt:lpstr>
      <vt:lpstr>Case Study: High Value Isn’t Always Immediate</vt:lpstr>
      <vt:lpstr>PowerPoint Presentation</vt:lpstr>
      <vt:lpstr>DISCUSSION AND RECOMMENDATION</vt:lpstr>
      <vt:lpstr>PowerPoint Presentation</vt:lpstr>
      <vt:lpstr>PowerPoint Presentation</vt:lpstr>
      <vt:lpstr>CONCLUSION</vt:lpstr>
      <vt:lpstr>Thanks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Oladamola Ogunleye</cp:lastModifiedBy>
  <cp:revision>8</cp:revision>
  <dcterms:created xsi:type="dcterms:W3CDTF">2013-01-27T09:14:16Z</dcterms:created>
  <dcterms:modified xsi:type="dcterms:W3CDTF">2025-07-18T14:00:09Z</dcterms:modified>
  <cp:category/>
</cp:coreProperties>
</file>